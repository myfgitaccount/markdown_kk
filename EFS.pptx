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8229600" cy="14630400"/>
  <p:embeddedFontLst>
    <p:embeddedFont>
      <p:font typeface="Funnel Display" panose="020B0604020202020204" charset="0"/>
      <p:regular r:id="rId14"/>
    </p:embeddedFont>
    <p:embeddedFont>
      <p:font typeface="Funnel Sans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68E3B0-7C9E-5DA6-F068-13C2C66DB8A3}" v="16" dt="2026-04-27T00:46:03.447"/>
    <p1510:client id="{A2ADD073-C157-9D48-19BD-DBA86649037A}" v="50" dt="2026-04-26T15:39:09.074"/>
    <p1510:client id="{CD88E346-F4D5-EF56-D11D-C8AEDFCAF1FE}" v="16" dt="2026-04-26T16:25:44.5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00F5DC-8FCB-4213-B014-8EFCEFEB1190}" type="datetimeFigureOut"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7B4F63-16B5-48C5-8BC6-8BFFA73DF1E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615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hku.wiki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hyperlink" Target="http://hku.wik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sp>
        <p:nvSpPr>
          <p:cNvPr id="5" name="Text 1"/>
          <p:cNvSpPr/>
          <p:nvPr/>
        </p:nvSpPr>
        <p:spPr>
          <a:xfrm>
            <a:off x="6324124" y="2004536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Educational Facilitation System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6324124" y="3771543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Final Project Outcomes &amp; Testing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6324124" y="4423767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CCIT4080 – Knowledge Product Development</a:t>
            </a: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· HKU SPACE · CL04 Group 7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324124" y="5459016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Xavier Wong · Kwok Ho Yin · Young Ho Tim</a:t>
            </a:r>
            <a:endParaRPr lang="en-US" sz="185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Supervisor: Mr. Lau Chung Yin | April 2026</a:t>
            </a:r>
            <a:endParaRPr lang="en-US" sz="1850" dirty="0"/>
          </a:p>
        </p:txBody>
      </p:sp>
      <p:pic>
        <p:nvPicPr>
          <p:cNvPr id="9" name="Picture 8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2072F2B7-4FF7-AC1D-2B63-B14979C6C4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7894" y="0"/>
            <a:ext cx="5675273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79252"/>
            <a:ext cx="585132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Outcomes at a Glance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186201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fully deployed, four-module platform — tested, validated, and live at </a:t>
            </a:r>
            <a:r>
              <a:rPr lang="en-US" sz="1850" u="sng" dirty="0">
                <a:solidFill>
                  <a:srgbClr val="CE5099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hku.wiki</a:t>
            </a: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2633901"/>
            <a:ext cx="6327815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96%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2521982" y="3722846"/>
            <a:ext cx="295917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Good/Excellent Rating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7724" y="4218384"/>
            <a:ext cx="63278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Overall user satisfaction across N=51 survey respondents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464743" y="2633901"/>
            <a:ext cx="6327934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0%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9220557" y="372284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k6 Failure Rate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64743" y="4218384"/>
            <a:ext cx="632793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Zero failed requests across 5,000 iterations under load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837724" y="5199817"/>
            <a:ext cx="6327815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15ms</a:t>
            </a:r>
            <a:endParaRPr lang="en-US" sz="6200" dirty="0"/>
          </a:p>
        </p:txBody>
      </p:sp>
      <p:sp>
        <p:nvSpPr>
          <p:cNvPr id="11" name="Text 9"/>
          <p:cNvSpPr/>
          <p:nvPr/>
        </p:nvSpPr>
        <p:spPr>
          <a:xfrm>
            <a:off x="2593538" y="628876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Avg Response Time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37724" y="6784300"/>
            <a:ext cx="632781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p95 at 29ms — well within acceptable performance thresholds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7464743" y="5199817"/>
            <a:ext cx="6327934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4</a:t>
            </a:r>
            <a:endParaRPr lang="en-US" sz="6200" dirty="0"/>
          </a:p>
        </p:txBody>
      </p:sp>
      <p:sp>
        <p:nvSpPr>
          <p:cNvPr id="14" name="Text 12"/>
          <p:cNvSpPr/>
          <p:nvPr/>
        </p:nvSpPr>
        <p:spPr>
          <a:xfrm>
            <a:off x="9220557" y="628876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Core Modules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464743" y="6784300"/>
            <a:ext cx="63279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Timetable, Group Formation, Questionnaire Exchange, Materials Repo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1AF370-7BC1-58E2-E8FD-08C1A86D8D54}"/>
              </a:ext>
            </a:extLst>
          </p:cNvPr>
          <p:cNvSpPr txBox="1"/>
          <p:nvPr/>
        </p:nvSpPr>
        <p:spPr>
          <a:xfrm>
            <a:off x="1199722" y="535798"/>
            <a:ext cx="422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K6 test detail</a:t>
            </a:r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BFB85B4-F0D0-0858-5882-BAA93C0A4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07" y="914400"/>
            <a:ext cx="14209185" cy="689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811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98049" y="662702"/>
            <a:ext cx="4637961" cy="579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Prototype Status</a:t>
            </a:r>
            <a:endParaRPr lang="en-US" sz="3650" dirty="0"/>
          </a:p>
        </p:txBody>
      </p:sp>
      <p:sp>
        <p:nvSpPr>
          <p:cNvPr id="6" name="Text 2"/>
          <p:cNvSpPr/>
          <p:nvPr/>
        </p:nvSpPr>
        <p:spPr>
          <a:xfrm>
            <a:off x="6298049" y="1485662"/>
            <a:ext cx="7520702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All four core modules are fully implemented and production-ready.</a:t>
            </a:r>
            <a:endParaRPr lang="en-US" sz="1550" dirty="0"/>
          </a:p>
        </p:txBody>
      </p:sp>
      <p:sp>
        <p:nvSpPr>
          <p:cNvPr id="7" name="Shape 3"/>
          <p:cNvSpPr/>
          <p:nvPr/>
        </p:nvSpPr>
        <p:spPr>
          <a:xfrm>
            <a:off x="6298049" y="1955721"/>
            <a:ext cx="7520702" cy="1091684"/>
          </a:xfrm>
          <a:prstGeom prst="roundRect">
            <a:avLst>
              <a:gd name="adj" fmla="val 7584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502718" y="2160389"/>
            <a:ext cx="2348508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📅</a:t>
            </a:r>
            <a:r>
              <a:rPr lang="en-US" sz="18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Timetable Planner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502718" y="2555200"/>
            <a:ext cx="7111365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>
                <a:solidFill>
                  <a:srgbClr val="2B3541"/>
                </a:solidFill>
                <a:latin typeface="Funnel Sans"/>
                <a:ea typeface="Funnel Sans" pitchFamily="34" charset="-122"/>
                <a:cs typeface="Funnel Sans" pitchFamily="34" charset="-120"/>
              </a:rPr>
              <a:t> scheduling, PNG export via html2canvas</a:t>
            </a:r>
            <a:endParaRPr lang="en-US" sz="1550">
              <a:latin typeface="Funnel Sans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6298049" y="3209687"/>
            <a:ext cx="7520702" cy="1091684"/>
          </a:xfrm>
          <a:prstGeom prst="roundRect">
            <a:avLst>
              <a:gd name="adj" fmla="val 7584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502718" y="3414355"/>
            <a:ext cx="2318980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👥</a:t>
            </a:r>
            <a:r>
              <a:rPr lang="en-US" sz="18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Group Formation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502718" y="3809167"/>
            <a:ext cx="7111365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Profile matching, email notifications, real-time polling chat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298049" y="4463653"/>
            <a:ext cx="7520702" cy="1091684"/>
          </a:xfrm>
          <a:prstGeom prst="roundRect">
            <a:avLst>
              <a:gd name="adj" fmla="val 7584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02718" y="4668322"/>
            <a:ext cx="3018830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📊</a:t>
            </a:r>
            <a:r>
              <a:rPr lang="en-US" sz="18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Questionnaire Exchange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502718" y="5063133"/>
            <a:ext cx="7111365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>
                <a:solidFill>
                  <a:srgbClr val="2B3541"/>
                </a:solidFill>
                <a:latin typeface="Funnel Sans"/>
                <a:ea typeface="Funnel Sans" pitchFamily="34" charset="-122"/>
                <a:cs typeface="Funnel Sans" pitchFamily="34" charset="-120"/>
              </a:rPr>
              <a:t>Credit system (5 start, +1 fill, -1 post) with unlimited active surveys</a:t>
            </a:r>
            <a:endParaRPr lang="en-US" sz="1550">
              <a:latin typeface="Funnel Sans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298049" y="5717619"/>
            <a:ext cx="7520702" cy="1091684"/>
          </a:xfrm>
          <a:prstGeom prst="roundRect">
            <a:avLst>
              <a:gd name="adj" fmla="val 7584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02718" y="5922288"/>
            <a:ext cx="2603421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📁</a:t>
            </a:r>
            <a:r>
              <a:rPr lang="en-US" sz="18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Materials Repository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502718" y="6317099"/>
            <a:ext cx="7111365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Admin upload, GridFS storage, download tracking for all course files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6298049" y="6991826"/>
            <a:ext cx="7520702" cy="57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i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Plus: Admin dashboard, JWT authentication, and mobile breakpoints at 768px / 1024px.</a:t>
            </a:r>
            <a:endParaRPr lang="en-US" sz="1550" dirty="0"/>
          </a:p>
        </p:txBody>
      </p:sp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F5EBF4-5CE5-29D3-22D3-C87596D36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36" y="-7374"/>
            <a:ext cx="6142704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1649" y="698897"/>
            <a:ext cx="4637961" cy="579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Performance Testing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811649" y="1684139"/>
            <a:ext cx="2318980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k6 Load Test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1649" y="2136338"/>
            <a:ext cx="6263164" cy="57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200 concurrent virtual users</a:t>
            </a: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sustained over 30 seconds — 5,000 total requests with a </a:t>
            </a:r>
            <a:r>
              <a:rPr lang="en-US" sz="1550" b="1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0% failure rate</a:t>
            </a: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and throughput of 139 kB/s.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563207" y="1684139"/>
            <a:ext cx="2318980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Lighthouse (Mobile)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97389" y="2564249"/>
            <a:ext cx="14168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75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2440660" y="3242429"/>
            <a:ext cx="14168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96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2578536" y="3920609"/>
            <a:ext cx="189667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100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12169521" y="4598789"/>
            <a:ext cx="14168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90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7563207" y="5512594"/>
            <a:ext cx="6263164" cy="57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Optimisations applied: code splitting, 366 KiB of unused JS removed, render-blocking CSS resolved. LCP: 3.6s · CLS: 0 · TBT: 270ms.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811649" y="6416159"/>
            <a:ext cx="4227433" cy="1114544"/>
          </a:xfrm>
          <a:prstGeom prst="roundRect">
            <a:avLst>
              <a:gd name="adj" fmla="val 7428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31558" y="6636068"/>
            <a:ext cx="2318980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15.04ms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31558" y="7023259"/>
            <a:ext cx="3787616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Avg http duration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5201364" y="6416159"/>
            <a:ext cx="4227552" cy="1114544"/>
          </a:xfrm>
          <a:prstGeom prst="roundRect">
            <a:avLst>
              <a:gd name="adj" fmla="val 7428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21273" y="6636068"/>
            <a:ext cx="2318980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29ms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21273" y="7023259"/>
            <a:ext cx="3787735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p95 latency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9591199" y="6416159"/>
            <a:ext cx="4227433" cy="1114544"/>
          </a:xfrm>
          <a:prstGeom prst="roundRect">
            <a:avLst>
              <a:gd name="adj" fmla="val 7428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11107" y="6636068"/>
            <a:ext cx="2318980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162.7/s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811107" y="7023259"/>
            <a:ext cx="3787616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Iteration rate</a:t>
            </a:r>
            <a:endParaRPr lang="en-US" sz="1550" dirty="0"/>
          </a:p>
        </p:txBody>
      </p:sp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85D5BE-016D-A987-F837-B3DA0554E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993" y="1976283"/>
            <a:ext cx="6265325" cy="3524867"/>
          </a:xfrm>
          <a:prstGeom prst="rect">
            <a:avLst/>
          </a:prstGeom>
        </p:spPr>
      </p:pic>
      <p:pic>
        <p:nvPicPr>
          <p:cNvPr id="22" name="Picture 2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FB7F795-E203-AD49-402A-DF736BEE2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51687"/>
            <a:ext cx="7322575" cy="21566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69025"/>
            <a:ext cx="4534972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User Evaluation (N=51)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837724" y="1566267"/>
            <a:ext cx="12954952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structured survey revealed strong adoption intent and high satisfaction across all platform features.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36539" y="3135868"/>
            <a:ext cx="2208133" cy="448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35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92%</a:t>
            </a:r>
            <a:endParaRPr lang="en-US" sz="3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822" r="-822"/>
          <a:stretch>
            <a:fillRect/>
          </a:stretch>
        </p:blipFill>
        <p:spPr>
          <a:xfrm>
            <a:off x="1594247" y="2013823"/>
            <a:ext cx="2692959" cy="26929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84640" y="4886087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Found It Useful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37724" y="5230773"/>
            <a:ext cx="4206121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Platform addresses real academic pain points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10895" y="3135868"/>
            <a:ext cx="2208133" cy="448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35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86%</a:t>
            </a:r>
            <a:endParaRPr lang="en-US" sz="3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8603" y="2013823"/>
            <a:ext cx="2692956" cy="26929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58997" y="4886087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Likely to Adopt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5212080" y="5230773"/>
            <a:ext cx="4206121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Would use EFS as part of their regular study routine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0585252" y="3135868"/>
            <a:ext cx="2208133" cy="448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35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94%</a:t>
            </a:r>
            <a:endParaRPr lang="en-US" sz="35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2959" y="2013823"/>
            <a:ext cx="2692956" cy="26929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633353" y="4886087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Mobile Important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9586436" y="5230773"/>
            <a:ext cx="4206121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Rated mobile design as Important or Very Important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37724" y="5785009"/>
            <a:ext cx="3061930" cy="1305758"/>
          </a:xfrm>
          <a:prstGeom prst="roundRect">
            <a:avLst>
              <a:gd name="adj" fmla="val 8403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14864" y="5785009"/>
            <a:ext cx="91440" cy="1305758"/>
          </a:xfrm>
          <a:prstGeom prst="roundRect">
            <a:avLst>
              <a:gd name="adj" fmla="val 82464"/>
            </a:avLst>
          </a:prstGeom>
          <a:solidFill>
            <a:srgbClr val="3371A5"/>
          </a:solidFill>
          <a:ln/>
        </p:spPr>
      </p:sp>
      <p:sp>
        <p:nvSpPr>
          <p:cNvPr id="18" name="Text 13"/>
          <p:cNvSpPr/>
          <p:nvPr/>
        </p:nvSpPr>
        <p:spPr>
          <a:xfrm>
            <a:off x="1108591" y="5987296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4.53 / 5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1108591" y="6385798"/>
            <a:ext cx="2588776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Timetable time-saving rating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034195" y="5785009"/>
            <a:ext cx="3062049" cy="1305758"/>
          </a:xfrm>
          <a:prstGeom prst="roundRect">
            <a:avLst>
              <a:gd name="adj" fmla="val 8403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011335" y="5785009"/>
            <a:ext cx="91440" cy="1305758"/>
          </a:xfrm>
          <a:prstGeom prst="roundRect">
            <a:avLst>
              <a:gd name="adj" fmla="val 82464"/>
            </a:avLst>
          </a:prstGeom>
          <a:solidFill>
            <a:srgbClr val="3371A5"/>
          </a:solidFill>
          <a:ln/>
        </p:spPr>
      </p:sp>
      <p:sp>
        <p:nvSpPr>
          <p:cNvPr id="22" name="Text 17"/>
          <p:cNvSpPr/>
          <p:nvPr/>
        </p:nvSpPr>
        <p:spPr>
          <a:xfrm>
            <a:off x="4305062" y="5987296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85.7%</a:t>
            </a:r>
            <a:endParaRPr lang="en-US" sz="1650" dirty="0"/>
          </a:p>
        </p:txBody>
      </p:sp>
      <p:sp>
        <p:nvSpPr>
          <p:cNvPr id="23" name="Text 18"/>
          <p:cNvSpPr/>
          <p:nvPr/>
        </p:nvSpPr>
        <p:spPr>
          <a:xfrm>
            <a:off x="4305062" y="6385798"/>
            <a:ext cx="2588895" cy="502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Demand for past exam papers in Materials Repo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7541776" y="5785009"/>
            <a:ext cx="6258520" cy="900351"/>
          </a:xfrm>
          <a:prstGeom prst="roundRect">
            <a:avLst>
              <a:gd name="adj" fmla="val 8375"/>
            </a:avLst>
          </a:prstGeom>
          <a:solidFill>
            <a:srgbClr val="B6FCB8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1203" y="6042660"/>
            <a:ext cx="224314" cy="17942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124944" y="5964317"/>
            <a:ext cx="5495925" cy="510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✨ </a:t>
            </a:r>
            <a:r>
              <a:rPr lang="en-US" sz="1400" b="1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Qualitative feedback:</a:t>
            </a:r>
            <a:r>
              <a:rPr lang="en-US" sz="14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"faster, efficient", "specialised for HKU SPACE", "convenient, powerful".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541776" y="6836807"/>
            <a:ext cx="6258520" cy="502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Most valued feature: </a:t>
            </a:r>
            <a:r>
              <a:rPr lang="en-US" sz="14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Timetable Planner</a:t>
            </a: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(26.5%). Recommended credit starting balance: </a:t>
            </a:r>
            <a:r>
              <a:rPr lang="en-US" sz="14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3.8 avg</a:t>
            </a:r>
            <a:r>
              <a:rPr lang="en-US" sz="14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current system uses 3.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52713"/>
            <a:ext cx="5069205" cy="633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Problem Validation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837724" y="1774150"/>
            <a:ext cx="12954952" cy="327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Pre-deployment survey confirmed significant student pain points — all three are measurably improved by EFS.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37724" y="2392204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Reported Pain Points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837724" y="3107412"/>
            <a:ext cx="3038237" cy="269200"/>
          </a:xfrm>
          <a:prstGeom prst="roundRect">
            <a:avLst>
              <a:gd name="adj" fmla="val 33613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7724" y="3107412"/>
            <a:ext cx="2582466" cy="269200"/>
          </a:xfrm>
          <a:prstGeom prst="roundRect">
            <a:avLst>
              <a:gd name="adj" fmla="val 33613"/>
            </a:avLst>
          </a:prstGeom>
          <a:solidFill>
            <a:srgbClr val="3371A5"/>
          </a:solidFill>
          <a:ln/>
        </p:spPr>
      </p:sp>
      <p:sp>
        <p:nvSpPr>
          <p:cNvPr id="7" name="Text 5"/>
          <p:cNvSpPr/>
          <p:nvPr/>
        </p:nvSpPr>
        <p:spPr>
          <a:xfrm>
            <a:off x="4037528" y="3107412"/>
            <a:ext cx="541139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85%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7724" y="3629620"/>
            <a:ext cx="3081814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Manual Timetable Checks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837724" y="4062770"/>
            <a:ext cx="4156710" cy="654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Found PDF-based schedule checking time-consuming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236726" y="3107412"/>
            <a:ext cx="3038356" cy="269200"/>
          </a:xfrm>
          <a:prstGeom prst="roundRect">
            <a:avLst>
              <a:gd name="adj" fmla="val 33613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36726" y="3107412"/>
            <a:ext cx="2005251" cy="269200"/>
          </a:xfrm>
          <a:prstGeom prst="roundRect">
            <a:avLst>
              <a:gd name="adj" fmla="val 33613"/>
            </a:avLst>
          </a:prstGeom>
          <a:solidFill>
            <a:srgbClr val="3371A5"/>
          </a:solidFill>
          <a:ln/>
        </p:spPr>
      </p:sp>
      <p:sp>
        <p:nvSpPr>
          <p:cNvPr id="12" name="Text 10"/>
          <p:cNvSpPr/>
          <p:nvPr/>
        </p:nvSpPr>
        <p:spPr>
          <a:xfrm>
            <a:off x="8436650" y="3107412"/>
            <a:ext cx="541139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66%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236726" y="3629620"/>
            <a:ext cx="2909054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Finding Group Members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236726" y="4062770"/>
            <a:ext cx="4156829" cy="327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Reported difficulty forming project groups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635847" y="3107412"/>
            <a:ext cx="3038237" cy="269200"/>
          </a:xfrm>
          <a:prstGeom prst="roundRect">
            <a:avLst>
              <a:gd name="adj" fmla="val 33613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35847" y="3107412"/>
            <a:ext cx="1822847" cy="269200"/>
          </a:xfrm>
          <a:prstGeom prst="roundRect">
            <a:avLst>
              <a:gd name="adj" fmla="val 33613"/>
            </a:avLst>
          </a:prstGeom>
          <a:solidFill>
            <a:srgbClr val="3371A5"/>
          </a:solidFill>
          <a:ln/>
        </p:spPr>
      </p:sp>
      <p:sp>
        <p:nvSpPr>
          <p:cNvPr id="17" name="Text 15"/>
          <p:cNvSpPr/>
          <p:nvPr/>
        </p:nvSpPr>
        <p:spPr>
          <a:xfrm>
            <a:off x="12835652" y="3107412"/>
            <a:ext cx="541139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60%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635847" y="3629620"/>
            <a:ext cx="3059430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Questionnaire Responses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635847" y="4062770"/>
            <a:ext cx="4156710" cy="654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Struggled to collect 30 responses for EAP II surveys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37724" y="5008126"/>
            <a:ext cx="3360896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Post-Deployment Outcomes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837724" y="5615702"/>
            <a:ext cx="3093363" cy="1861066"/>
          </a:xfrm>
          <a:prstGeom prst="roundRect">
            <a:avLst>
              <a:gd name="adj" fmla="val 4862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28" y="5838706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91.6%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060728" y="6271855"/>
            <a:ext cx="2647355" cy="654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Agree the Timetable Planner saves time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4124920" y="5615702"/>
            <a:ext cx="3093363" cy="1861066"/>
          </a:xfrm>
          <a:prstGeom prst="roundRect">
            <a:avLst>
              <a:gd name="adj" fmla="val 4862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7924" y="5838706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83.3%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4347924" y="6271855"/>
            <a:ext cx="2647355" cy="654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Find it easier to form groups with EFS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7412117" y="5615702"/>
            <a:ext cx="3093363" cy="1861066"/>
          </a:xfrm>
          <a:prstGeom prst="roundRect">
            <a:avLst>
              <a:gd name="adj" fmla="val 4862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35121" y="5838706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83.3%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7635121" y="6271855"/>
            <a:ext cx="2647355" cy="981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Say the Questionnaire module helps reach 30 responses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0699313" y="5615702"/>
            <a:ext cx="3093363" cy="1861066"/>
          </a:xfrm>
          <a:prstGeom prst="roundRect">
            <a:avLst>
              <a:gd name="adj" fmla="val 4862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22318" y="5838706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79.1%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0922318" y="6271855"/>
            <a:ext cx="2647355" cy="981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Agree the credit system is fair and encourages participation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23317"/>
            <a:ext cx="5030867" cy="492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Key Challenges &amp; Solutions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837724" y="1550551"/>
            <a:ext cx="12954952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Every major technical constraint encountered during development was resolved with a targeted engineering solution.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37724" y="1910239"/>
            <a:ext cx="12954952" cy="1005364"/>
          </a:xfrm>
          <a:prstGeom prst="roundRect">
            <a:avLst>
              <a:gd name="adj" fmla="val 7000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0584" y="1933099"/>
            <a:ext cx="670203" cy="959644"/>
          </a:xfrm>
          <a:prstGeom prst="roundRect">
            <a:avLst>
              <a:gd name="adj" fmla="val 6408"/>
            </a:avLst>
          </a:prstGeom>
          <a:solidFill>
            <a:srgbClr val="FAF5E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205" y="2287191"/>
            <a:ext cx="251341" cy="2513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8063" y="2100620"/>
            <a:ext cx="2095024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Serverless Constraints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48063" y="2417445"/>
            <a:ext cx="11954232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Vercel's serverless model required migrating Express routes to individually exported handler functions.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37724" y="3032879"/>
            <a:ext cx="12954952" cy="1005364"/>
          </a:xfrm>
          <a:prstGeom prst="roundRect">
            <a:avLst>
              <a:gd name="adj" fmla="val 7000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0584" y="3055739"/>
            <a:ext cx="670203" cy="959644"/>
          </a:xfrm>
          <a:prstGeom prst="roundRect">
            <a:avLst>
              <a:gd name="adj" fmla="val 6408"/>
            </a:avLst>
          </a:prstGeom>
          <a:solidFill>
            <a:srgbClr val="FAF5E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205" y="3409831"/>
            <a:ext cx="251341" cy="25134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8063" y="3223260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File Uploads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648063" y="3540085"/>
            <a:ext cx="11954232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Multer failed in serverless context — resolved via GridFS streaming and base64 encoding fallback.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37724" y="4155519"/>
            <a:ext cx="12954952" cy="1005364"/>
          </a:xfrm>
          <a:prstGeom prst="roundRect">
            <a:avLst>
              <a:gd name="adj" fmla="val 7000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0584" y="4178379"/>
            <a:ext cx="670203" cy="959644"/>
          </a:xfrm>
          <a:prstGeom prst="roundRect">
            <a:avLst>
              <a:gd name="adj" fmla="val 6408"/>
            </a:avLst>
          </a:prstGeom>
          <a:solidFill>
            <a:srgbClr val="FAF5E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205" y="4532471"/>
            <a:ext cx="251341" cy="25134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8063" y="4345900"/>
            <a:ext cx="2573179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MongoDB Connection Limit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48063" y="4662726"/>
            <a:ext cx="11954232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Hard cap of 20 connections mitigated using a singleton connection pool capped at 15.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37724" y="5278160"/>
            <a:ext cx="12954952" cy="1005364"/>
          </a:xfrm>
          <a:prstGeom prst="roundRect">
            <a:avLst>
              <a:gd name="adj" fmla="val 7000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60584" y="5301020"/>
            <a:ext cx="670203" cy="959644"/>
          </a:xfrm>
          <a:prstGeom prst="roundRect">
            <a:avLst>
              <a:gd name="adj" fmla="val 6408"/>
            </a:avLst>
          </a:prstGeom>
          <a:solidFill>
            <a:srgbClr val="FAF5E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205" y="5655112"/>
            <a:ext cx="251341" cy="25134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8063" y="5468541"/>
            <a:ext cx="3033593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Real-Time Chat (No WebSockets)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648063" y="5785366"/>
            <a:ext cx="11954232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Polling implemented at 3s for messages and 5s for group updates as a lightweight alternative.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837724" y="6400800"/>
            <a:ext cx="12954952" cy="1005364"/>
          </a:xfrm>
          <a:prstGeom prst="roundRect">
            <a:avLst>
              <a:gd name="adj" fmla="val 7000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60584" y="6423660"/>
            <a:ext cx="670203" cy="959644"/>
          </a:xfrm>
          <a:prstGeom prst="roundRect">
            <a:avLst>
              <a:gd name="adj" fmla="val 6408"/>
            </a:avLst>
          </a:prstGeom>
          <a:solidFill>
            <a:srgbClr val="FAF5E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6205" y="6777752"/>
            <a:ext cx="251341" cy="25134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8063" y="6591181"/>
            <a:ext cx="2065734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PNG Timetable Export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1648063" y="6908006"/>
            <a:ext cx="11954232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html2canvas with manual calibration used to produce accurate, shareable schedule exports.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02707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Future Scope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188547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Based on user feedback, the next iteration will expand functionality and accessibility.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724" y="2537698"/>
            <a:ext cx="478750" cy="478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15678" y="261997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Deadline Reminders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15678" y="3115508"/>
            <a:ext cx="5549860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Dashboard and calendar integration for assignment and exam alerts</a:t>
            </a:r>
            <a:endParaRPr lang="en-US" sz="1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4743" y="2537698"/>
            <a:ext cx="478750" cy="478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42697" y="261997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AI Assistant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242697" y="3115508"/>
            <a:ext cx="5549979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Smart FAQ and course recommendation engine powered by LLM</a:t>
            </a:r>
            <a:endParaRPr lang="en-US" sz="1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7724" y="4360307"/>
            <a:ext cx="478750" cy="478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15678" y="444257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Native Mobile Apps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615678" y="4938117"/>
            <a:ext cx="5549860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iOS and Android apps with push notifications for real-time updates</a:t>
            </a:r>
            <a:endParaRPr lang="en-US" sz="18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64743" y="4360307"/>
            <a:ext cx="478750" cy="478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42697" y="444257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WebSocket Upgrade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8242697" y="4938117"/>
            <a:ext cx="5549979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Replace polling with WebSockets to reduce chat latency significantly</a:t>
            </a:r>
            <a:endParaRPr lang="en-US" sz="18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7724" y="6182916"/>
            <a:ext cx="478750" cy="4787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615678" y="626518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WCAG 2.1 Level AA</a:t>
            </a:r>
            <a:endParaRPr lang="en-US" sz="2200" dirty="0"/>
          </a:p>
        </p:txBody>
      </p:sp>
      <p:sp>
        <p:nvSpPr>
          <p:cNvPr id="18" name="Text 11"/>
          <p:cNvSpPr/>
          <p:nvPr/>
        </p:nvSpPr>
        <p:spPr>
          <a:xfrm>
            <a:off x="1615678" y="6760726"/>
            <a:ext cx="5549860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Full accessibility compliance + HKU SPACE API integration planned</a:t>
            </a:r>
            <a:endParaRPr lang="en-US" sz="18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64743" y="6182916"/>
            <a:ext cx="478750" cy="47875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242697" y="626518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Expanded Materials</a:t>
            </a:r>
            <a:endParaRPr lang="en-US" sz="2200" dirty="0"/>
          </a:p>
        </p:txBody>
      </p:sp>
      <p:sp>
        <p:nvSpPr>
          <p:cNvPr id="21" name="Text 13"/>
          <p:cNvSpPr/>
          <p:nvPr/>
        </p:nvSpPr>
        <p:spPr>
          <a:xfrm>
            <a:off x="8242697" y="6760726"/>
            <a:ext cx="5549979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Past exam papers prioritised — 85.7% of users identified this as top demand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85599"/>
            <a:ext cx="4270653" cy="45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Credit System Deep Dive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837724" y="1645325"/>
            <a:ext cx="12954952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reciprocal credit economy encourages fair participation in the Questionnaire Exchange module.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078117"/>
            <a:ext cx="4086939" cy="408693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24" y="2078117"/>
            <a:ext cx="4086939" cy="408693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12606" y="3436144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7512606" y="3778568"/>
            <a:ext cx="6287691" cy="513993"/>
          </a:xfrm>
          <a:prstGeom prst="roundRect">
            <a:avLst>
              <a:gd name="adj" fmla="val 12714"/>
            </a:avLst>
          </a:prstGeom>
          <a:solidFill>
            <a:srgbClr val="B6D6FC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8101" y="3989189"/>
            <a:ext cx="194429" cy="1554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18026" y="3918466"/>
            <a:ext cx="5626775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Example: Fill 2 surveys (+2) + daily login (+2) = </a:t>
            </a:r>
            <a:r>
              <a:rPr lang="en-US" sz="1200" b="1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+4 credits</a:t>
            </a:r>
            <a:r>
              <a:rPr lang="en-US" sz="12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→ post up to 4 surveys.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7512606" y="4406265"/>
            <a:ext cx="6287691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Fairness rating: </a:t>
            </a:r>
            <a:r>
              <a:rPr lang="en-US" sz="12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4.38/5</a:t>
            </a: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Users recommend a 3.8 credit start — current balance may be adjusted in the next iteration.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837724" y="6392466"/>
            <a:ext cx="4250888" cy="851416"/>
          </a:xfrm>
          <a:prstGeom prst="roundRect">
            <a:avLst>
              <a:gd name="adj" fmla="val 12888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14864" y="6392466"/>
            <a:ext cx="91440" cy="851416"/>
          </a:xfrm>
          <a:prstGeom prst="roundRect">
            <a:avLst>
              <a:gd name="adj" fmla="val 71469"/>
            </a:avLst>
          </a:prstGeom>
          <a:solidFill>
            <a:srgbClr val="3371A5"/>
          </a:solidFill>
          <a:ln/>
        </p:spPr>
      </p:sp>
      <p:sp>
        <p:nvSpPr>
          <p:cNvPr id="13" name="Text 8"/>
          <p:cNvSpPr/>
          <p:nvPr/>
        </p:nvSpPr>
        <p:spPr>
          <a:xfrm>
            <a:off x="1084659" y="6570821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3 Credits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084659" y="6860143"/>
            <a:ext cx="382559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Awarded upon admin approval to get started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189696" y="6392466"/>
            <a:ext cx="4250888" cy="851416"/>
          </a:xfrm>
          <a:prstGeom prst="roundRect">
            <a:avLst>
              <a:gd name="adj" fmla="val 12888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166836" y="6392466"/>
            <a:ext cx="91440" cy="851416"/>
          </a:xfrm>
          <a:prstGeom prst="roundRect">
            <a:avLst>
              <a:gd name="adj" fmla="val 71469"/>
            </a:avLst>
          </a:prstGeom>
          <a:solidFill>
            <a:srgbClr val="3371A5"/>
          </a:solidFill>
          <a:ln/>
        </p:spPr>
      </p:sp>
      <p:sp>
        <p:nvSpPr>
          <p:cNvPr id="17" name="Text 12"/>
          <p:cNvSpPr/>
          <p:nvPr/>
        </p:nvSpPr>
        <p:spPr>
          <a:xfrm>
            <a:off x="5436632" y="6570821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+1 / +2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436632" y="6860143"/>
            <a:ext cx="382559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Earn by filling surveys (+1) or daily first login bonus (+2)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541669" y="6392466"/>
            <a:ext cx="4251008" cy="851416"/>
          </a:xfrm>
          <a:prstGeom prst="roundRect">
            <a:avLst>
              <a:gd name="adj" fmla="val 12888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518809" y="6392466"/>
            <a:ext cx="91440" cy="851416"/>
          </a:xfrm>
          <a:prstGeom prst="roundRect">
            <a:avLst>
              <a:gd name="adj" fmla="val 71469"/>
            </a:avLst>
          </a:prstGeom>
          <a:solidFill>
            <a:srgbClr val="3371A5"/>
          </a:solidFill>
          <a:ln/>
        </p:spPr>
      </p:sp>
      <p:sp>
        <p:nvSpPr>
          <p:cNvPr id="21" name="Text 16"/>
          <p:cNvSpPr/>
          <p:nvPr/>
        </p:nvSpPr>
        <p:spPr>
          <a:xfrm>
            <a:off x="9788604" y="6570821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−1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9788604" y="6860143"/>
            <a:ext cx="3825716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Spent each time you post your own questionnaire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7724" y="785455"/>
            <a:ext cx="498824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Summary &amp; Conclusion</a:t>
            </a:r>
            <a:endParaRPr lang="en-US" sz="3500" dirty="0"/>
          </a:p>
        </p:txBody>
      </p:sp>
      <p:sp>
        <p:nvSpPr>
          <p:cNvPr id="6" name="Text 2"/>
          <p:cNvSpPr/>
          <p:nvPr/>
        </p:nvSpPr>
        <p:spPr>
          <a:xfrm>
            <a:off x="837724" y="1578531"/>
            <a:ext cx="7468553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All objectives met — modules fully implemented, tested, and validated with real users.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837724" y="2026444"/>
            <a:ext cx="7468553" cy="1054894"/>
          </a:xfrm>
          <a:prstGeom prst="roundRect">
            <a:avLst>
              <a:gd name="adj" fmla="val 7625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36796" y="2225516"/>
            <a:ext cx="2257187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✔</a:t>
            </a:r>
            <a:r>
              <a:rPr lang="en-US" sz="17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Production-Ready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036796" y="2606635"/>
            <a:ext cx="7070407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Live at </a:t>
            </a:r>
            <a:r>
              <a:rPr lang="en-US" sz="15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hku.wiki</a:t>
            </a: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four modules tackling real academic pain points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837724" y="3234452"/>
            <a:ext cx="7468553" cy="1054894"/>
          </a:xfrm>
          <a:prstGeom prst="roundRect">
            <a:avLst>
              <a:gd name="adj" fmla="val 7625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36796" y="3433524"/>
            <a:ext cx="2252901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✔</a:t>
            </a:r>
            <a:r>
              <a:rPr lang="en-US" sz="17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High Satisfaction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1036796" y="3814643"/>
            <a:ext cx="7070407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96% Good/Excellent · 92% useful · 86% likely to adopt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37724" y="4442460"/>
            <a:ext cx="7468553" cy="1054894"/>
          </a:xfrm>
          <a:prstGeom prst="roundRect">
            <a:avLst>
              <a:gd name="adj" fmla="val 7625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36796" y="4641533"/>
            <a:ext cx="277772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✔</a:t>
            </a:r>
            <a:r>
              <a:rPr lang="en-US" sz="17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Validated Performance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1036796" y="5022652"/>
            <a:ext cx="7070407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15ms avg response · 0% failure under 200 VUs · Lighthouse a11y 96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37724" y="5650468"/>
            <a:ext cx="7468553" cy="1054894"/>
          </a:xfrm>
          <a:prstGeom prst="roundRect">
            <a:avLst>
              <a:gd name="adj" fmla="val 7625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036796" y="5849541"/>
            <a:ext cx="2381845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✔</a:t>
            </a:r>
            <a:r>
              <a:rPr lang="en-US" sz="17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Unique Capabilities</a:t>
            </a:r>
            <a:endParaRPr lang="en-US" sz="1750" dirty="0"/>
          </a:p>
        </p:txBody>
      </p:sp>
      <p:sp>
        <p:nvSpPr>
          <p:cNvPr id="18" name="Text 14"/>
          <p:cNvSpPr/>
          <p:nvPr/>
        </p:nvSpPr>
        <p:spPr>
          <a:xfrm>
            <a:off x="1036796" y="6230660"/>
            <a:ext cx="7070407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Credit-based exchange, PNG export, real-time chat on serverless infrastructure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837724" y="6877645"/>
            <a:ext cx="7468553" cy="56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🙏</a:t>
            </a: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r>
              <a:rPr lang="en-US" sz="15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Thank you!</a:t>
            </a: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Feedback and questions are welcome.</a:t>
            </a:r>
            <a:endParaRPr lang="en-US" sz="1500" dirty="0"/>
          </a:p>
          <a:p>
            <a:pPr marL="0" indent="0" algn="ctr">
              <a:lnSpc>
                <a:spcPts val="21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🔗</a:t>
            </a: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Live demo: </a:t>
            </a:r>
            <a:r>
              <a:rPr lang="en-US" sz="1500" u="sng" dirty="0">
                <a:solidFill>
                  <a:srgbClr val="CE5099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hku.wiki</a:t>
            </a: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· GitHub: EFS Platform</a:t>
            </a:r>
            <a:endParaRPr lang="en-US" sz="1500" dirty="0"/>
          </a:p>
        </p:txBody>
      </p:sp>
      <p:pic>
        <p:nvPicPr>
          <p:cNvPr id="20" name="Picture 19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58B32452-F8FB-6520-D582-D89D4C0370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3058" y="302342"/>
            <a:ext cx="5920144" cy="77797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11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36</cp:revision>
  <dcterms:created xsi:type="dcterms:W3CDTF">2026-04-26T14:12:39Z</dcterms:created>
  <dcterms:modified xsi:type="dcterms:W3CDTF">2026-04-27T00:46:09Z</dcterms:modified>
</cp:coreProperties>
</file>