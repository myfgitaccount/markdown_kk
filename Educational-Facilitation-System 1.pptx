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4630400" cy="8229600"/>
  <p:notesSz cx="8229600" cy="14630400"/>
  <p:embeddedFontLst>
    <p:embeddedFont>
      <p:font typeface="Funnel Display" panose="020B0604020202020204" charset="0"/>
      <p:regular r:id="rId14"/>
    </p:embeddedFont>
    <p:embeddedFont>
      <p:font typeface="Funnel Sans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2ADD073-C157-9D48-19BD-DBA86649037A}" v="50" dt="2026-04-26T15:39:09.0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660900" y="0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00F5DC-8FCB-4213-B014-8EFCEFEB1190}" type="datetimeFigureOut">
              <a:t>4/26/2026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73050" y="1828800"/>
            <a:ext cx="8775700" cy="49371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3896975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B4F63-16B5-48C5-8BC6-8BFFA73DF1E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6154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5EB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5EB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5EB"/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5EB"/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5EB"/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5EB"/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5EB"/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5EB"/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5EB"/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5EB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://hku.wiki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5.svg"/><Relationship Id="rId5" Type="http://schemas.openxmlformats.org/officeDocument/2006/relationships/image" Target="../media/image14.svg"/><Relationship Id="rId4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3" Type="http://schemas.openxmlformats.org/officeDocument/2006/relationships/image" Target="../media/image17.svg"/><Relationship Id="rId7" Type="http://schemas.openxmlformats.org/officeDocument/2006/relationships/image" Target="../media/image21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0.svg"/><Relationship Id="rId5" Type="http://schemas.openxmlformats.org/officeDocument/2006/relationships/image" Target="../media/image19.svg"/><Relationship Id="rId4" Type="http://schemas.openxmlformats.org/officeDocument/2006/relationships/image" Target="../media/image18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://hku.wiki" TargetMode="Externa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324124" y="2004536"/>
            <a:ext cx="7468553" cy="1408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Educational Facilitation System</a:t>
            </a:r>
            <a:endParaRPr lang="en-US" sz="4400" dirty="0"/>
          </a:p>
        </p:txBody>
      </p:sp>
      <p:sp>
        <p:nvSpPr>
          <p:cNvPr id="6" name="Text 2"/>
          <p:cNvSpPr/>
          <p:nvPr/>
        </p:nvSpPr>
        <p:spPr>
          <a:xfrm>
            <a:off x="6324124" y="3771543"/>
            <a:ext cx="7468553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Final Project Outcomes &amp; Testing</a:t>
            </a:r>
            <a:endParaRPr lang="en-US" sz="1850" dirty="0"/>
          </a:p>
        </p:txBody>
      </p:sp>
      <p:sp>
        <p:nvSpPr>
          <p:cNvPr id="7" name="Text 3"/>
          <p:cNvSpPr/>
          <p:nvPr/>
        </p:nvSpPr>
        <p:spPr>
          <a:xfrm>
            <a:off x="6324124" y="4423767"/>
            <a:ext cx="746855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b="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CCIT4080 – Knowledge Product Development</a:t>
            </a:r>
            <a:r>
              <a:rPr lang="en-US" sz="18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 · HKU SPACE · CL04 Group 7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6324124" y="5459016"/>
            <a:ext cx="7468553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Xavier Wong · Kwok Ho Yin · Young Ho Tim</a:t>
            </a:r>
            <a:endParaRPr lang="en-US" sz="1850" dirty="0"/>
          </a:p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Supervisor: Mr. Lau Chung Yin | April 2026</a:t>
            </a:r>
            <a:endParaRPr lang="en-US" sz="1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679252"/>
            <a:ext cx="5851327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Outcomes at a Glance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37724" y="1862018"/>
            <a:ext cx="12954952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 fully deployed, four-module platform — tested, validated, and live at </a:t>
            </a:r>
            <a:r>
              <a:rPr lang="en-US" sz="1850" u="sng" dirty="0">
                <a:solidFill>
                  <a:srgbClr val="CE5099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hku.wiki</a:t>
            </a:r>
            <a:r>
              <a:rPr lang="en-US" sz="18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.</a:t>
            </a:r>
            <a:endParaRPr lang="en-US" sz="1850" dirty="0"/>
          </a:p>
        </p:txBody>
      </p:sp>
      <p:sp>
        <p:nvSpPr>
          <p:cNvPr id="4" name="Text 2"/>
          <p:cNvSpPr/>
          <p:nvPr/>
        </p:nvSpPr>
        <p:spPr>
          <a:xfrm>
            <a:off x="837724" y="2633901"/>
            <a:ext cx="6327815" cy="7898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6200"/>
              </a:lnSpc>
              <a:buNone/>
            </a:pPr>
            <a:r>
              <a:rPr lang="en-US" sz="62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96%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2521982" y="3722846"/>
            <a:ext cx="2959179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Good/Excellent Rating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37724" y="4218384"/>
            <a:ext cx="6327815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n-US" sz="18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Overall user satisfaction across N=51 survey respondents</a:t>
            </a:r>
            <a:endParaRPr lang="en-US" sz="1850" dirty="0"/>
          </a:p>
        </p:txBody>
      </p:sp>
      <p:sp>
        <p:nvSpPr>
          <p:cNvPr id="7" name="Text 5"/>
          <p:cNvSpPr/>
          <p:nvPr/>
        </p:nvSpPr>
        <p:spPr>
          <a:xfrm>
            <a:off x="7464743" y="2633901"/>
            <a:ext cx="6327934" cy="7898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6200"/>
              </a:lnSpc>
              <a:buNone/>
            </a:pPr>
            <a:r>
              <a:rPr lang="en-US" sz="62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0%</a:t>
            </a:r>
            <a:endParaRPr lang="en-US" sz="6200" dirty="0"/>
          </a:p>
        </p:txBody>
      </p:sp>
      <p:sp>
        <p:nvSpPr>
          <p:cNvPr id="8" name="Text 6"/>
          <p:cNvSpPr/>
          <p:nvPr/>
        </p:nvSpPr>
        <p:spPr>
          <a:xfrm>
            <a:off x="9220557" y="3722846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k6 Failure Rate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464743" y="4218384"/>
            <a:ext cx="6327934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n-US" sz="18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Zero failed requests across 5,000 iterations under load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837724" y="5199817"/>
            <a:ext cx="6327815" cy="7898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6200"/>
              </a:lnSpc>
              <a:buNone/>
            </a:pPr>
            <a:r>
              <a:rPr lang="en-US" sz="62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15ms</a:t>
            </a:r>
            <a:endParaRPr lang="en-US" sz="6200" dirty="0"/>
          </a:p>
        </p:txBody>
      </p:sp>
      <p:sp>
        <p:nvSpPr>
          <p:cNvPr id="11" name="Text 9"/>
          <p:cNvSpPr/>
          <p:nvPr/>
        </p:nvSpPr>
        <p:spPr>
          <a:xfrm>
            <a:off x="2593538" y="6288762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Avg Response Time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37724" y="6784300"/>
            <a:ext cx="6327815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n-US" sz="18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p95 at 29ms — well within acceptable performance thresholds</a:t>
            </a:r>
            <a:endParaRPr lang="en-US" sz="1850" dirty="0"/>
          </a:p>
        </p:txBody>
      </p:sp>
      <p:sp>
        <p:nvSpPr>
          <p:cNvPr id="13" name="Text 11"/>
          <p:cNvSpPr/>
          <p:nvPr/>
        </p:nvSpPr>
        <p:spPr>
          <a:xfrm>
            <a:off x="7464743" y="5199817"/>
            <a:ext cx="6327934" cy="7898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6200"/>
              </a:lnSpc>
              <a:buNone/>
            </a:pPr>
            <a:r>
              <a:rPr lang="en-US" sz="62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4</a:t>
            </a:r>
            <a:endParaRPr lang="en-US" sz="6200" dirty="0"/>
          </a:p>
        </p:txBody>
      </p:sp>
      <p:sp>
        <p:nvSpPr>
          <p:cNvPr id="14" name="Text 12"/>
          <p:cNvSpPr/>
          <p:nvPr/>
        </p:nvSpPr>
        <p:spPr>
          <a:xfrm>
            <a:off x="9220557" y="6288762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Core Modules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464743" y="6784300"/>
            <a:ext cx="6327934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3000"/>
              </a:lnSpc>
              <a:buNone/>
            </a:pPr>
            <a:r>
              <a:rPr lang="en-US" sz="18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Timetable, Group Formation, Questionnaire Exchange, Materials Repo</a:t>
            </a:r>
            <a:endParaRPr lang="en-US" sz="1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81AF370-7BC1-58E2-E8FD-08C1A86D8D54}"/>
              </a:ext>
            </a:extLst>
          </p:cNvPr>
          <p:cNvSpPr txBox="1"/>
          <p:nvPr/>
        </p:nvSpPr>
        <p:spPr>
          <a:xfrm>
            <a:off x="1199722" y="535798"/>
            <a:ext cx="4228146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Calibri"/>
                <a:cs typeface="Calibri"/>
              </a:rPr>
              <a:t>K6 test detail</a:t>
            </a:r>
            <a:endParaRPr lang="en-US"/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BFB85B4-F0D0-0858-5882-BAA93C0A46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607" y="914400"/>
            <a:ext cx="14209185" cy="6894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8112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298049" y="662702"/>
            <a:ext cx="4637961" cy="5795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50"/>
              </a:lnSpc>
              <a:buNone/>
            </a:pPr>
            <a:r>
              <a:rPr lang="en-US" sz="3650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Prototype Status</a:t>
            </a:r>
            <a:endParaRPr lang="en-US" sz="3650" dirty="0"/>
          </a:p>
        </p:txBody>
      </p:sp>
      <p:sp>
        <p:nvSpPr>
          <p:cNvPr id="6" name="Text 2"/>
          <p:cNvSpPr/>
          <p:nvPr/>
        </p:nvSpPr>
        <p:spPr>
          <a:xfrm>
            <a:off x="6298049" y="1485662"/>
            <a:ext cx="7520702" cy="287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All four core modules are fully implemented and production-ready.</a:t>
            </a:r>
            <a:endParaRPr lang="en-US" sz="1550" dirty="0"/>
          </a:p>
        </p:txBody>
      </p:sp>
      <p:sp>
        <p:nvSpPr>
          <p:cNvPr id="7" name="Shape 3"/>
          <p:cNvSpPr/>
          <p:nvPr/>
        </p:nvSpPr>
        <p:spPr>
          <a:xfrm>
            <a:off x="6298049" y="1955721"/>
            <a:ext cx="7520702" cy="1091684"/>
          </a:xfrm>
          <a:prstGeom prst="roundRect">
            <a:avLst>
              <a:gd name="adj" fmla="val 7584"/>
            </a:avLst>
          </a:prstGeom>
          <a:solidFill>
            <a:srgbClr val="FAF5EB"/>
          </a:solidFill>
          <a:ln w="7620">
            <a:solidFill>
              <a:srgbClr val="D5CDBE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502718" y="2160389"/>
            <a:ext cx="2348508" cy="2975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📅</a:t>
            </a:r>
            <a:r>
              <a:rPr lang="en-US" sz="18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 Timetable Planner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6502718" y="2555200"/>
            <a:ext cx="7111365" cy="287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Drag-and-drop scheduling, clash detection, PNG export via html2canvas</a:t>
            </a:r>
            <a:endParaRPr lang="en-US" sz="1550" dirty="0"/>
          </a:p>
        </p:txBody>
      </p:sp>
      <p:sp>
        <p:nvSpPr>
          <p:cNvPr id="10" name="Shape 6"/>
          <p:cNvSpPr/>
          <p:nvPr/>
        </p:nvSpPr>
        <p:spPr>
          <a:xfrm>
            <a:off x="6298049" y="3209687"/>
            <a:ext cx="7520702" cy="1091684"/>
          </a:xfrm>
          <a:prstGeom prst="roundRect">
            <a:avLst>
              <a:gd name="adj" fmla="val 7584"/>
            </a:avLst>
          </a:prstGeom>
          <a:solidFill>
            <a:srgbClr val="FAF5EB"/>
          </a:solidFill>
          <a:ln w="7620">
            <a:solidFill>
              <a:srgbClr val="D5CDB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502718" y="3414355"/>
            <a:ext cx="2318980" cy="2975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👥</a:t>
            </a:r>
            <a:r>
              <a:rPr lang="en-US" sz="18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 Group Formation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502718" y="3809167"/>
            <a:ext cx="7111365" cy="287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Profile matching, email notifications, real-time polling chat</a:t>
            </a:r>
            <a:endParaRPr lang="en-US" sz="1550" dirty="0"/>
          </a:p>
        </p:txBody>
      </p:sp>
      <p:sp>
        <p:nvSpPr>
          <p:cNvPr id="13" name="Shape 9"/>
          <p:cNvSpPr/>
          <p:nvPr/>
        </p:nvSpPr>
        <p:spPr>
          <a:xfrm>
            <a:off x="6298049" y="4463653"/>
            <a:ext cx="7520702" cy="1091684"/>
          </a:xfrm>
          <a:prstGeom prst="roundRect">
            <a:avLst>
              <a:gd name="adj" fmla="val 7584"/>
            </a:avLst>
          </a:prstGeom>
          <a:solidFill>
            <a:srgbClr val="FAF5EB"/>
          </a:solidFill>
          <a:ln w="7620">
            <a:solidFill>
              <a:srgbClr val="D5CDB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02718" y="4668322"/>
            <a:ext cx="3018830" cy="2975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📊</a:t>
            </a:r>
            <a:r>
              <a:rPr lang="en-US" sz="18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 Questionnaire Exchange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6502718" y="5063133"/>
            <a:ext cx="7111365" cy="287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Credit system (3 start, +1 fill, -1 post) with unlimited active surveys</a:t>
            </a:r>
            <a:endParaRPr lang="en-US" sz="1550" dirty="0"/>
          </a:p>
        </p:txBody>
      </p:sp>
      <p:sp>
        <p:nvSpPr>
          <p:cNvPr id="16" name="Shape 12"/>
          <p:cNvSpPr/>
          <p:nvPr/>
        </p:nvSpPr>
        <p:spPr>
          <a:xfrm>
            <a:off x="6298049" y="5717619"/>
            <a:ext cx="7520702" cy="1091684"/>
          </a:xfrm>
          <a:prstGeom prst="roundRect">
            <a:avLst>
              <a:gd name="adj" fmla="val 7584"/>
            </a:avLst>
          </a:prstGeom>
          <a:solidFill>
            <a:srgbClr val="FAF5EB"/>
          </a:solidFill>
          <a:ln w="7620">
            <a:solidFill>
              <a:srgbClr val="D5CDBE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502718" y="5922288"/>
            <a:ext cx="2603421" cy="2975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📁</a:t>
            </a:r>
            <a:r>
              <a:rPr lang="en-US" sz="18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 Materials Repository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6502718" y="6317099"/>
            <a:ext cx="7111365" cy="287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Admin upload, GridFS storage, download tracking for all course files</a:t>
            </a:r>
            <a:endParaRPr lang="en-US" sz="1550" dirty="0"/>
          </a:p>
        </p:txBody>
      </p:sp>
      <p:sp>
        <p:nvSpPr>
          <p:cNvPr id="19" name="Text 15"/>
          <p:cNvSpPr/>
          <p:nvPr/>
        </p:nvSpPr>
        <p:spPr>
          <a:xfrm>
            <a:off x="6298049" y="6991826"/>
            <a:ext cx="7520702" cy="57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50" i="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Plus: Admin dashboard, JWT authentication, and mobile breakpoints at 768px / 1024px.</a:t>
            </a:r>
            <a:endParaRPr lang="en-US" sz="1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1649" y="698897"/>
            <a:ext cx="4637961" cy="5795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50"/>
              </a:lnSpc>
              <a:buNone/>
            </a:pPr>
            <a:r>
              <a:rPr lang="en-US" sz="3650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Performance Testing</a:t>
            </a:r>
            <a:endParaRPr lang="en-US" sz="3650" dirty="0"/>
          </a:p>
        </p:txBody>
      </p:sp>
      <p:sp>
        <p:nvSpPr>
          <p:cNvPr id="3" name="Text 1"/>
          <p:cNvSpPr/>
          <p:nvPr/>
        </p:nvSpPr>
        <p:spPr>
          <a:xfrm>
            <a:off x="811649" y="1684139"/>
            <a:ext cx="2318980" cy="2899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k6 Load Test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11649" y="2136338"/>
            <a:ext cx="6263164" cy="57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50" b="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200 concurrent virtual users</a:t>
            </a:r>
            <a:r>
              <a:rPr lang="en-US" sz="15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 sustained over 30 seconds — 5,000 total requests with a </a:t>
            </a:r>
            <a:r>
              <a:rPr lang="en-US" sz="1550" b="1" dirty="0">
                <a:solidFill>
                  <a:srgbClr val="3371A5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0% failure rate</a:t>
            </a:r>
            <a:r>
              <a:rPr lang="en-US" sz="15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 and throughput of 139 kB/s.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7563207" y="1684139"/>
            <a:ext cx="2318980" cy="2899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Lighthouse (Mobile)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1497389" y="2564249"/>
            <a:ext cx="141684" cy="144780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75</a:t>
            </a:r>
            <a:endParaRPr lang="en-US" sz="650" dirty="0"/>
          </a:p>
        </p:txBody>
      </p:sp>
      <p:sp>
        <p:nvSpPr>
          <p:cNvPr id="8" name="Text 5"/>
          <p:cNvSpPr/>
          <p:nvPr/>
        </p:nvSpPr>
        <p:spPr>
          <a:xfrm>
            <a:off x="12440660" y="3242429"/>
            <a:ext cx="141684" cy="144780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96</a:t>
            </a:r>
            <a:endParaRPr lang="en-US" sz="650" dirty="0"/>
          </a:p>
        </p:txBody>
      </p:sp>
      <p:sp>
        <p:nvSpPr>
          <p:cNvPr id="9" name="Text 6"/>
          <p:cNvSpPr/>
          <p:nvPr/>
        </p:nvSpPr>
        <p:spPr>
          <a:xfrm>
            <a:off x="12578536" y="3920609"/>
            <a:ext cx="189667" cy="144780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100</a:t>
            </a:r>
            <a:endParaRPr lang="en-US" sz="650" dirty="0"/>
          </a:p>
        </p:txBody>
      </p:sp>
      <p:sp>
        <p:nvSpPr>
          <p:cNvPr id="10" name="Text 7"/>
          <p:cNvSpPr/>
          <p:nvPr/>
        </p:nvSpPr>
        <p:spPr>
          <a:xfrm>
            <a:off x="12169521" y="4598789"/>
            <a:ext cx="141684" cy="144780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65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90</a:t>
            </a:r>
            <a:endParaRPr lang="en-US" sz="650" dirty="0"/>
          </a:p>
        </p:txBody>
      </p:sp>
      <p:sp>
        <p:nvSpPr>
          <p:cNvPr id="11" name="Text 8"/>
          <p:cNvSpPr/>
          <p:nvPr/>
        </p:nvSpPr>
        <p:spPr>
          <a:xfrm>
            <a:off x="7563207" y="5512594"/>
            <a:ext cx="6263164" cy="57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Optimisations applied: code splitting, 366 KiB of unused JS removed, render-blocking CSS resolved. LCP: 3.6s · CLS: 0 · TBT: 270ms.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811649" y="6416159"/>
            <a:ext cx="4227433" cy="1114544"/>
          </a:xfrm>
          <a:prstGeom prst="roundRect">
            <a:avLst>
              <a:gd name="adj" fmla="val 7428"/>
            </a:avLst>
          </a:prstGeom>
          <a:solidFill>
            <a:srgbClr val="FAF5EB"/>
          </a:solidFill>
          <a:ln w="22860">
            <a:solidFill>
              <a:srgbClr val="D5CDB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31558" y="6636068"/>
            <a:ext cx="2318980" cy="2899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15.04ms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031558" y="7023259"/>
            <a:ext cx="3787616" cy="287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Avg http duration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5201364" y="6416159"/>
            <a:ext cx="4227552" cy="1114544"/>
          </a:xfrm>
          <a:prstGeom prst="roundRect">
            <a:avLst>
              <a:gd name="adj" fmla="val 7428"/>
            </a:avLst>
          </a:prstGeom>
          <a:solidFill>
            <a:srgbClr val="FAF5EB"/>
          </a:solidFill>
          <a:ln w="22860">
            <a:solidFill>
              <a:srgbClr val="D5CDB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21273" y="6636068"/>
            <a:ext cx="2318980" cy="2899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29ms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421273" y="7023259"/>
            <a:ext cx="3787735" cy="287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p95 latency</a:t>
            </a:r>
            <a:endParaRPr lang="en-US" sz="1550" dirty="0"/>
          </a:p>
        </p:txBody>
      </p:sp>
      <p:sp>
        <p:nvSpPr>
          <p:cNvPr id="18" name="Shape 15"/>
          <p:cNvSpPr/>
          <p:nvPr/>
        </p:nvSpPr>
        <p:spPr>
          <a:xfrm>
            <a:off x="9591199" y="6416159"/>
            <a:ext cx="4227433" cy="1114544"/>
          </a:xfrm>
          <a:prstGeom prst="roundRect">
            <a:avLst>
              <a:gd name="adj" fmla="val 7428"/>
            </a:avLst>
          </a:prstGeom>
          <a:solidFill>
            <a:srgbClr val="FAF5EB"/>
          </a:solidFill>
          <a:ln w="22860">
            <a:solidFill>
              <a:srgbClr val="D5CDB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11107" y="6636068"/>
            <a:ext cx="2318980" cy="2899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162.7/s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9811107" y="7023259"/>
            <a:ext cx="3787616" cy="287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5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Iteration rate</a:t>
            </a:r>
            <a:endParaRPr lang="en-US" sz="1550" dirty="0"/>
          </a:p>
        </p:txBody>
      </p:sp>
      <p:pic>
        <p:nvPicPr>
          <p:cNvPr id="21" name="Picture 2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B85D5BE-016D-A987-F837-B3DA0554EC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993" y="1976283"/>
            <a:ext cx="6265325" cy="3524867"/>
          </a:xfrm>
          <a:prstGeom prst="rect">
            <a:avLst/>
          </a:prstGeom>
        </p:spPr>
      </p:pic>
      <p:pic>
        <p:nvPicPr>
          <p:cNvPr id="22" name="Picture 21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DFB7F795-E203-AD49-402A-DF736BEE28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951687"/>
            <a:ext cx="7322575" cy="21566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769025"/>
            <a:ext cx="4534972" cy="5280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150"/>
              </a:lnSpc>
              <a:buNone/>
            </a:pPr>
            <a:r>
              <a:rPr lang="en-US" sz="3300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User Evaluation (N=51)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837724" y="1566267"/>
            <a:ext cx="12954952" cy="251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4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 structured survey revealed strong adoption intent and high satisfaction across all platform features.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836539" y="3135868"/>
            <a:ext cx="2208133" cy="448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500"/>
              </a:lnSpc>
              <a:buNone/>
            </a:pPr>
            <a:r>
              <a:rPr lang="en-US" sz="35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92%</a:t>
            </a:r>
            <a:endParaRPr lang="en-US" sz="35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822" r="-822"/>
          <a:stretch>
            <a:fillRect/>
          </a:stretch>
        </p:blipFill>
        <p:spPr>
          <a:xfrm>
            <a:off x="1594247" y="2013823"/>
            <a:ext cx="2692959" cy="26929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84640" y="4886087"/>
            <a:ext cx="2112169" cy="263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50"/>
              </a:lnSpc>
              <a:buNone/>
            </a:pPr>
            <a:r>
              <a:rPr lang="en-US" sz="165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Found It Useful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837724" y="5230773"/>
            <a:ext cx="4206121" cy="251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50"/>
              </a:lnSpc>
              <a:buNone/>
            </a:pPr>
            <a:r>
              <a:rPr lang="en-US" sz="14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Platform addresses real academic pain points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210895" y="3135868"/>
            <a:ext cx="2208133" cy="448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500"/>
              </a:lnSpc>
              <a:buNone/>
            </a:pPr>
            <a:r>
              <a:rPr lang="en-US" sz="35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86%</a:t>
            </a:r>
            <a:endParaRPr lang="en-US" sz="35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8603" y="2013823"/>
            <a:ext cx="2692956" cy="26929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58997" y="4886087"/>
            <a:ext cx="2112169" cy="263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50"/>
              </a:lnSpc>
              <a:buNone/>
            </a:pPr>
            <a:r>
              <a:rPr lang="en-US" sz="165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Likely to Adopt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5212080" y="5230773"/>
            <a:ext cx="4206121" cy="251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50"/>
              </a:lnSpc>
              <a:buNone/>
            </a:pPr>
            <a:r>
              <a:rPr lang="en-US" sz="14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Would use EFS as part of their regular study routine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0585252" y="3135868"/>
            <a:ext cx="2208133" cy="448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500"/>
              </a:lnSpc>
              <a:buNone/>
            </a:pPr>
            <a:r>
              <a:rPr lang="en-US" sz="35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94%</a:t>
            </a:r>
            <a:endParaRPr lang="en-US" sz="35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42959" y="2013823"/>
            <a:ext cx="2692956" cy="26929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633353" y="4886087"/>
            <a:ext cx="2112169" cy="263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50"/>
              </a:lnSpc>
              <a:buNone/>
            </a:pPr>
            <a:r>
              <a:rPr lang="en-US" sz="165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Mobile Important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9586436" y="5230773"/>
            <a:ext cx="4206121" cy="251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950"/>
              </a:lnSpc>
              <a:buNone/>
            </a:pPr>
            <a:r>
              <a:rPr lang="en-US" sz="14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Rated mobile design as Important or Very Important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37724" y="5785009"/>
            <a:ext cx="3061930" cy="1305758"/>
          </a:xfrm>
          <a:prstGeom prst="roundRect">
            <a:avLst>
              <a:gd name="adj" fmla="val 8403"/>
            </a:avLst>
          </a:prstGeom>
          <a:solidFill>
            <a:srgbClr val="FAF5EB"/>
          </a:solidFill>
          <a:ln w="22860">
            <a:solidFill>
              <a:srgbClr val="D5CDBE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4864" y="5785009"/>
            <a:ext cx="91440" cy="1305758"/>
          </a:xfrm>
          <a:prstGeom prst="roundRect">
            <a:avLst>
              <a:gd name="adj" fmla="val 82464"/>
            </a:avLst>
          </a:prstGeom>
          <a:solidFill>
            <a:srgbClr val="3371A5"/>
          </a:solidFill>
          <a:ln/>
        </p:spPr>
      </p:sp>
      <p:sp>
        <p:nvSpPr>
          <p:cNvPr id="18" name="Text 13"/>
          <p:cNvSpPr/>
          <p:nvPr/>
        </p:nvSpPr>
        <p:spPr>
          <a:xfrm>
            <a:off x="1108591" y="5987296"/>
            <a:ext cx="2112169" cy="263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4.53 / 5</a:t>
            </a:r>
            <a:endParaRPr lang="en-US" sz="1650" dirty="0"/>
          </a:p>
        </p:txBody>
      </p:sp>
      <p:sp>
        <p:nvSpPr>
          <p:cNvPr id="19" name="Text 14"/>
          <p:cNvSpPr/>
          <p:nvPr/>
        </p:nvSpPr>
        <p:spPr>
          <a:xfrm>
            <a:off x="1108591" y="6385798"/>
            <a:ext cx="2588776" cy="2513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4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Timetable time-saving rating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4034195" y="5785009"/>
            <a:ext cx="3062049" cy="1305758"/>
          </a:xfrm>
          <a:prstGeom prst="roundRect">
            <a:avLst>
              <a:gd name="adj" fmla="val 8403"/>
            </a:avLst>
          </a:prstGeom>
          <a:solidFill>
            <a:srgbClr val="FAF5EB"/>
          </a:solidFill>
          <a:ln w="22860">
            <a:solidFill>
              <a:srgbClr val="D5CDBE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011335" y="5785009"/>
            <a:ext cx="91440" cy="1305758"/>
          </a:xfrm>
          <a:prstGeom prst="roundRect">
            <a:avLst>
              <a:gd name="adj" fmla="val 82464"/>
            </a:avLst>
          </a:prstGeom>
          <a:solidFill>
            <a:srgbClr val="3371A5"/>
          </a:solidFill>
          <a:ln/>
        </p:spPr>
      </p:sp>
      <p:sp>
        <p:nvSpPr>
          <p:cNvPr id="22" name="Text 17"/>
          <p:cNvSpPr/>
          <p:nvPr/>
        </p:nvSpPr>
        <p:spPr>
          <a:xfrm>
            <a:off x="4305062" y="5987296"/>
            <a:ext cx="2112169" cy="2639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85.7%</a:t>
            </a:r>
            <a:endParaRPr lang="en-US" sz="1650" dirty="0"/>
          </a:p>
        </p:txBody>
      </p:sp>
      <p:sp>
        <p:nvSpPr>
          <p:cNvPr id="23" name="Text 18"/>
          <p:cNvSpPr/>
          <p:nvPr/>
        </p:nvSpPr>
        <p:spPr>
          <a:xfrm>
            <a:off x="4305062" y="6385798"/>
            <a:ext cx="2588895" cy="502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4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Demand for past exam papers in Materials Repo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7541776" y="5785009"/>
            <a:ext cx="6258520" cy="900351"/>
          </a:xfrm>
          <a:prstGeom prst="roundRect">
            <a:avLst>
              <a:gd name="adj" fmla="val 8375"/>
            </a:avLst>
          </a:prstGeom>
          <a:solidFill>
            <a:srgbClr val="B6FCB8"/>
          </a:solidFill>
          <a:ln/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21203" y="6042660"/>
            <a:ext cx="224314" cy="179427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124944" y="5964317"/>
            <a:ext cx="5495925" cy="510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✨ </a:t>
            </a:r>
            <a:r>
              <a:rPr lang="en-US" sz="1400" b="1" dirty="0">
                <a:solidFill>
                  <a:srgbClr val="00000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Qualitative feedback:</a:t>
            </a:r>
            <a:r>
              <a:rPr lang="en-US" sz="1400" dirty="0">
                <a:solidFill>
                  <a:srgbClr val="00000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 "faster, efficient", "specialised for HKU SPACE", "convenient, powerful".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7541776" y="6836807"/>
            <a:ext cx="6258520" cy="502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4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Most valued feature: </a:t>
            </a:r>
            <a:r>
              <a:rPr lang="en-US" sz="1400" b="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Timetable Planner</a:t>
            </a:r>
            <a:r>
              <a:rPr lang="en-US" sz="14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 (26.5%). Recommended credit starting balance: </a:t>
            </a:r>
            <a:r>
              <a:rPr lang="en-US" sz="1400" b="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3.8 avg</a:t>
            </a:r>
            <a:r>
              <a:rPr lang="en-US" sz="14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 — current system uses 3.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752713"/>
            <a:ext cx="5069205" cy="6336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950"/>
              </a:lnSpc>
              <a:buNone/>
            </a:pPr>
            <a:r>
              <a:rPr lang="en-US" sz="3950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Problem Validation</a:t>
            </a:r>
            <a:endParaRPr lang="en-US" sz="3950" dirty="0"/>
          </a:p>
        </p:txBody>
      </p:sp>
      <p:sp>
        <p:nvSpPr>
          <p:cNvPr id="3" name="Text 1"/>
          <p:cNvSpPr/>
          <p:nvPr/>
        </p:nvSpPr>
        <p:spPr>
          <a:xfrm>
            <a:off x="837724" y="1774150"/>
            <a:ext cx="12954952" cy="327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Pre-deployment survey confirmed significant student pain points — all three are measurably improved by EFS.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837724" y="2392204"/>
            <a:ext cx="2534603" cy="316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Reported Pain Points</a:t>
            </a:r>
            <a:endParaRPr lang="en-US" sz="1950" dirty="0"/>
          </a:p>
        </p:txBody>
      </p:sp>
      <p:sp>
        <p:nvSpPr>
          <p:cNvPr id="5" name="Shape 3"/>
          <p:cNvSpPr/>
          <p:nvPr/>
        </p:nvSpPr>
        <p:spPr>
          <a:xfrm>
            <a:off x="837724" y="3107412"/>
            <a:ext cx="3038237" cy="269200"/>
          </a:xfrm>
          <a:prstGeom prst="roundRect">
            <a:avLst>
              <a:gd name="adj" fmla="val 33613"/>
            </a:avLst>
          </a:prstGeom>
          <a:solidFill>
            <a:srgbClr val="FAF5EB"/>
          </a:solidFill>
          <a:ln w="7620">
            <a:solidFill>
              <a:srgbClr val="D5CDB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7724" y="3107412"/>
            <a:ext cx="2582466" cy="269200"/>
          </a:xfrm>
          <a:prstGeom prst="roundRect">
            <a:avLst>
              <a:gd name="adj" fmla="val 33613"/>
            </a:avLst>
          </a:prstGeom>
          <a:solidFill>
            <a:srgbClr val="3371A5"/>
          </a:solidFill>
          <a:ln/>
        </p:spPr>
      </p:sp>
      <p:sp>
        <p:nvSpPr>
          <p:cNvPr id="7" name="Text 5"/>
          <p:cNvSpPr/>
          <p:nvPr/>
        </p:nvSpPr>
        <p:spPr>
          <a:xfrm>
            <a:off x="4037528" y="3107412"/>
            <a:ext cx="541139" cy="269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21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85%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837724" y="3629620"/>
            <a:ext cx="3081814" cy="316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Manual Timetable Checks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837724" y="4062770"/>
            <a:ext cx="4156710" cy="654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Found PDF-based schedule checking time-consuming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236726" y="3107412"/>
            <a:ext cx="3038356" cy="269200"/>
          </a:xfrm>
          <a:prstGeom prst="roundRect">
            <a:avLst>
              <a:gd name="adj" fmla="val 33613"/>
            </a:avLst>
          </a:prstGeom>
          <a:solidFill>
            <a:srgbClr val="FAF5EB"/>
          </a:solidFill>
          <a:ln w="7620">
            <a:solidFill>
              <a:srgbClr val="D5CDB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236726" y="3107412"/>
            <a:ext cx="2005251" cy="269200"/>
          </a:xfrm>
          <a:prstGeom prst="roundRect">
            <a:avLst>
              <a:gd name="adj" fmla="val 33613"/>
            </a:avLst>
          </a:prstGeom>
          <a:solidFill>
            <a:srgbClr val="3371A5"/>
          </a:solidFill>
          <a:ln/>
        </p:spPr>
      </p:sp>
      <p:sp>
        <p:nvSpPr>
          <p:cNvPr id="12" name="Text 10"/>
          <p:cNvSpPr/>
          <p:nvPr/>
        </p:nvSpPr>
        <p:spPr>
          <a:xfrm>
            <a:off x="8436650" y="3107412"/>
            <a:ext cx="541139" cy="269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21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66%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5236726" y="3629620"/>
            <a:ext cx="2909054" cy="316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Finding Group Members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5236726" y="4062770"/>
            <a:ext cx="4156829" cy="3273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Reported difficulty forming project groups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9635847" y="3107412"/>
            <a:ext cx="3038237" cy="269200"/>
          </a:xfrm>
          <a:prstGeom prst="roundRect">
            <a:avLst>
              <a:gd name="adj" fmla="val 33613"/>
            </a:avLst>
          </a:prstGeom>
          <a:solidFill>
            <a:srgbClr val="FAF5EB"/>
          </a:solidFill>
          <a:ln w="7620">
            <a:solidFill>
              <a:srgbClr val="D5CDB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35847" y="3107412"/>
            <a:ext cx="1822847" cy="269200"/>
          </a:xfrm>
          <a:prstGeom prst="roundRect">
            <a:avLst>
              <a:gd name="adj" fmla="val 33613"/>
            </a:avLst>
          </a:prstGeom>
          <a:solidFill>
            <a:srgbClr val="3371A5"/>
          </a:solidFill>
          <a:ln/>
        </p:spPr>
      </p:sp>
      <p:sp>
        <p:nvSpPr>
          <p:cNvPr id="17" name="Text 15"/>
          <p:cNvSpPr/>
          <p:nvPr/>
        </p:nvSpPr>
        <p:spPr>
          <a:xfrm>
            <a:off x="12835652" y="3107412"/>
            <a:ext cx="541139" cy="269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21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60%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635847" y="3629620"/>
            <a:ext cx="3059430" cy="316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Questionnaire Responses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9635847" y="4062770"/>
            <a:ext cx="4156710" cy="654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Struggled to collect 30 responses for EAP II surveys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837724" y="5008126"/>
            <a:ext cx="3360896" cy="316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Post-Deployment Outcomes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837724" y="5615702"/>
            <a:ext cx="3093363" cy="1861066"/>
          </a:xfrm>
          <a:prstGeom prst="roundRect">
            <a:avLst>
              <a:gd name="adj" fmla="val 4862"/>
            </a:avLst>
          </a:prstGeom>
          <a:solidFill>
            <a:srgbClr val="FAF5EB"/>
          </a:solidFill>
          <a:ln w="7620">
            <a:solidFill>
              <a:srgbClr val="D5CDB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60728" y="5838706"/>
            <a:ext cx="2534603" cy="316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91.6%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060728" y="6271855"/>
            <a:ext cx="2647355" cy="654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Agree the Timetable Planner saves time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4124920" y="5615702"/>
            <a:ext cx="3093363" cy="1861066"/>
          </a:xfrm>
          <a:prstGeom prst="roundRect">
            <a:avLst>
              <a:gd name="adj" fmla="val 4862"/>
            </a:avLst>
          </a:prstGeom>
          <a:solidFill>
            <a:srgbClr val="FAF5EB"/>
          </a:solidFill>
          <a:ln w="7620">
            <a:solidFill>
              <a:srgbClr val="D5CDB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47924" y="5838706"/>
            <a:ext cx="2534603" cy="316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83.3%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4347924" y="6271855"/>
            <a:ext cx="2647355" cy="654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Find it easier to form groups with EFS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7412117" y="5615702"/>
            <a:ext cx="3093363" cy="1861066"/>
          </a:xfrm>
          <a:prstGeom prst="roundRect">
            <a:avLst>
              <a:gd name="adj" fmla="val 4862"/>
            </a:avLst>
          </a:prstGeom>
          <a:solidFill>
            <a:srgbClr val="FAF5EB"/>
          </a:solidFill>
          <a:ln w="7620">
            <a:solidFill>
              <a:srgbClr val="D5CDB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635121" y="5838706"/>
            <a:ext cx="2534603" cy="316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83.3%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7635121" y="6271855"/>
            <a:ext cx="2647355" cy="981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Say the Questionnaire module helps reach 30 responses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0699313" y="5615702"/>
            <a:ext cx="3093363" cy="1861066"/>
          </a:xfrm>
          <a:prstGeom prst="roundRect">
            <a:avLst>
              <a:gd name="adj" fmla="val 4862"/>
            </a:avLst>
          </a:prstGeom>
          <a:solidFill>
            <a:srgbClr val="FAF5EB"/>
          </a:solidFill>
          <a:ln w="7620">
            <a:solidFill>
              <a:srgbClr val="D5CDB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922318" y="5838706"/>
            <a:ext cx="2534603" cy="3168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95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79.1%</a:t>
            </a:r>
            <a:endParaRPr lang="en-US" sz="1950" dirty="0"/>
          </a:p>
        </p:txBody>
      </p:sp>
      <p:sp>
        <p:nvSpPr>
          <p:cNvPr id="32" name="Text 30"/>
          <p:cNvSpPr/>
          <p:nvPr/>
        </p:nvSpPr>
        <p:spPr>
          <a:xfrm>
            <a:off x="10922318" y="6271855"/>
            <a:ext cx="2647355" cy="981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Agree the credit system is fair and encourages participation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823317"/>
            <a:ext cx="5030867" cy="4926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850"/>
              </a:lnSpc>
              <a:buNone/>
            </a:pPr>
            <a:r>
              <a:rPr lang="en-US" sz="3100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Key Challenges &amp; Solutions</a:t>
            </a:r>
            <a:endParaRPr lang="en-US" sz="3100" dirty="0"/>
          </a:p>
        </p:txBody>
      </p:sp>
      <p:sp>
        <p:nvSpPr>
          <p:cNvPr id="3" name="Text 1"/>
          <p:cNvSpPr/>
          <p:nvPr/>
        </p:nvSpPr>
        <p:spPr>
          <a:xfrm>
            <a:off x="837724" y="1550551"/>
            <a:ext cx="12954952" cy="227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3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Every major technical constraint encountered during development was resolved with a targeted engineering solution.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837724" y="1910239"/>
            <a:ext cx="12954952" cy="1005364"/>
          </a:xfrm>
          <a:prstGeom prst="roundRect">
            <a:avLst>
              <a:gd name="adj" fmla="val 7000"/>
            </a:avLst>
          </a:prstGeom>
          <a:solidFill>
            <a:srgbClr val="FAF5EB"/>
          </a:solidFill>
          <a:ln w="22860">
            <a:solidFill>
              <a:srgbClr val="D5CDB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0584" y="1933099"/>
            <a:ext cx="670203" cy="959644"/>
          </a:xfrm>
          <a:prstGeom prst="roundRect">
            <a:avLst>
              <a:gd name="adj" fmla="val 6408"/>
            </a:avLst>
          </a:prstGeom>
          <a:solidFill>
            <a:srgbClr val="FAF5EB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6205" y="2287191"/>
            <a:ext cx="251341" cy="25134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8063" y="2100620"/>
            <a:ext cx="2095024" cy="2464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55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Serverless Constraints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648063" y="2417445"/>
            <a:ext cx="11954232" cy="227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3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Vercel's serverless model required migrating Express routes to individually exported handler functions.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37724" y="3032879"/>
            <a:ext cx="12954952" cy="1005364"/>
          </a:xfrm>
          <a:prstGeom prst="roundRect">
            <a:avLst>
              <a:gd name="adj" fmla="val 7000"/>
            </a:avLst>
          </a:prstGeom>
          <a:solidFill>
            <a:srgbClr val="FAF5EB"/>
          </a:solidFill>
          <a:ln w="22860">
            <a:solidFill>
              <a:srgbClr val="D5CDB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60584" y="3055739"/>
            <a:ext cx="670203" cy="959644"/>
          </a:xfrm>
          <a:prstGeom prst="roundRect">
            <a:avLst>
              <a:gd name="adj" fmla="val 6408"/>
            </a:avLst>
          </a:prstGeom>
          <a:solidFill>
            <a:srgbClr val="FAF5EB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6205" y="3409831"/>
            <a:ext cx="251341" cy="25134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648063" y="3223260"/>
            <a:ext cx="1971318" cy="2464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55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File Uploads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1648063" y="3540085"/>
            <a:ext cx="11954232" cy="227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3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Multer failed in serverless context — resolved via GridFS streaming and base64 encoding fallback.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37724" y="4155519"/>
            <a:ext cx="12954952" cy="1005364"/>
          </a:xfrm>
          <a:prstGeom prst="roundRect">
            <a:avLst>
              <a:gd name="adj" fmla="val 7000"/>
            </a:avLst>
          </a:prstGeom>
          <a:solidFill>
            <a:srgbClr val="FAF5EB"/>
          </a:solidFill>
          <a:ln w="22860">
            <a:solidFill>
              <a:srgbClr val="D5CDB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60584" y="4178379"/>
            <a:ext cx="670203" cy="959644"/>
          </a:xfrm>
          <a:prstGeom prst="roundRect">
            <a:avLst>
              <a:gd name="adj" fmla="val 6408"/>
            </a:avLst>
          </a:prstGeom>
          <a:solidFill>
            <a:srgbClr val="FAF5EB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6205" y="4532471"/>
            <a:ext cx="251341" cy="25134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8063" y="4345900"/>
            <a:ext cx="2573179" cy="2464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55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MongoDB Connection Limit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1648063" y="4662726"/>
            <a:ext cx="11954232" cy="227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3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Hard cap of 20 connections mitigated using a singleton connection pool capped at 15.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837724" y="5278160"/>
            <a:ext cx="12954952" cy="1005364"/>
          </a:xfrm>
          <a:prstGeom prst="roundRect">
            <a:avLst>
              <a:gd name="adj" fmla="val 7000"/>
            </a:avLst>
          </a:prstGeom>
          <a:solidFill>
            <a:srgbClr val="FAF5EB"/>
          </a:solidFill>
          <a:ln w="22860">
            <a:solidFill>
              <a:srgbClr val="D5CDB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60584" y="5301020"/>
            <a:ext cx="670203" cy="959644"/>
          </a:xfrm>
          <a:prstGeom prst="roundRect">
            <a:avLst>
              <a:gd name="adj" fmla="val 6408"/>
            </a:avLst>
          </a:prstGeom>
          <a:solidFill>
            <a:srgbClr val="FAF5EB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6205" y="5655112"/>
            <a:ext cx="251341" cy="25134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648063" y="5468541"/>
            <a:ext cx="3033593" cy="2464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55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Real-Time Chat (No WebSockets)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1648063" y="5785366"/>
            <a:ext cx="11954232" cy="227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3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Polling implemented at 3s for messages and 5s for group updates as a lightweight alternative.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837724" y="6400800"/>
            <a:ext cx="12954952" cy="1005364"/>
          </a:xfrm>
          <a:prstGeom prst="roundRect">
            <a:avLst>
              <a:gd name="adj" fmla="val 7000"/>
            </a:avLst>
          </a:prstGeom>
          <a:solidFill>
            <a:srgbClr val="FAF5EB"/>
          </a:solidFill>
          <a:ln w="22860">
            <a:solidFill>
              <a:srgbClr val="D5CDBE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860584" y="6423660"/>
            <a:ext cx="670203" cy="959644"/>
          </a:xfrm>
          <a:prstGeom prst="roundRect">
            <a:avLst>
              <a:gd name="adj" fmla="val 6408"/>
            </a:avLst>
          </a:prstGeom>
          <a:solidFill>
            <a:srgbClr val="FAF5EB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66205" y="6777752"/>
            <a:ext cx="251341" cy="25134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48063" y="6591181"/>
            <a:ext cx="2065734" cy="2464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55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PNG Timetable Export</a:t>
            </a:r>
            <a:endParaRPr lang="en-US" sz="1550" dirty="0"/>
          </a:p>
        </p:txBody>
      </p:sp>
      <p:sp>
        <p:nvSpPr>
          <p:cNvPr id="28" name="Text 21"/>
          <p:cNvSpPr/>
          <p:nvPr/>
        </p:nvSpPr>
        <p:spPr>
          <a:xfrm>
            <a:off x="1648063" y="6908006"/>
            <a:ext cx="11954232" cy="227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3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html2canvas with manual calibration used to produce accurate, shareable schedule exports.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702707"/>
            <a:ext cx="5632490" cy="7040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Future Scope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37724" y="1885474"/>
            <a:ext cx="12954952" cy="3830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Based on user feedback, the next iteration will expand functionality and accessibility.</a:t>
            </a:r>
            <a:endParaRPr lang="en-US" sz="18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7724" y="2537698"/>
            <a:ext cx="478750" cy="4787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15678" y="2619970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Deadline Reminders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615678" y="3115508"/>
            <a:ext cx="5549860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Dashboard and calendar integration for assignment and exam alerts</a:t>
            </a:r>
            <a:endParaRPr lang="en-US" sz="18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64743" y="2537698"/>
            <a:ext cx="478750" cy="4787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42697" y="2619970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AI Assistant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8242697" y="3115508"/>
            <a:ext cx="5549979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Smart FAQ and course recommendation engine powered by LLM</a:t>
            </a:r>
            <a:endParaRPr lang="en-US" sz="18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7724" y="4360307"/>
            <a:ext cx="478750" cy="47875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615678" y="4442579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Native Mobile Apps</a:t>
            </a:r>
            <a:endParaRPr lang="en-US" sz="2200" dirty="0"/>
          </a:p>
        </p:txBody>
      </p:sp>
      <p:sp>
        <p:nvSpPr>
          <p:cNvPr id="12" name="Text 7"/>
          <p:cNvSpPr/>
          <p:nvPr/>
        </p:nvSpPr>
        <p:spPr>
          <a:xfrm>
            <a:off x="1615678" y="4938117"/>
            <a:ext cx="5549860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iOS and Android apps with push notifications for real-time updates</a:t>
            </a:r>
            <a:endParaRPr lang="en-US" sz="18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64743" y="4360307"/>
            <a:ext cx="478750" cy="47875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242697" y="4442579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WebSocket Upgrade</a:t>
            </a:r>
            <a:endParaRPr lang="en-US" sz="2200" dirty="0"/>
          </a:p>
        </p:txBody>
      </p:sp>
      <p:sp>
        <p:nvSpPr>
          <p:cNvPr id="15" name="Text 9"/>
          <p:cNvSpPr/>
          <p:nvPr/>
        </p:nvSpPr>
        <p:spPr>
          <a:xfrm>
            <a:off x="8242697" y="4938117"/>
            <a:ext cx="5549979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Replace polling with WebSockets to reduce chat latency significantly</a:t>
            </a:r>
            <a:endParaRPr lang="en-US" sz="185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7724" y="6182916"/>
            <a:ext cx="478750" cy="47875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615678" y="6265188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WCAG 2.1 Level AA</a:t>
            </a:r>
            <a:endParaRPr lang="en-US" sz="2200" dirty="0"/>
          </a:p>
        </p:txBody>
      </p:sp>
      <p:sp>
        <p:nvSpPr>
          <p:cNvPr id="18" name="Text 11"/>
          <p:cNvSpPr/>
          <p:nvPr/>
        </p:nvSpPr>
        <p:spPr>
          <a:xfrm>
            <a:off x="1615678" y="6760726"/>
            <a:ext cx="5549860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Full accessibility compliance + HKU SPACE API integration planned</a:t>
            </a:r>
            <a:endParaRPr lang="en-US" sz="185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464743" y="6182916"/>
            <a:ext cx="478750" cy="47875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242697" y="6265188"/>
            <a:ext cx="2816185" cy="3519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Expanded Materials</a:t>
            </a:r>
            <a:endParaRPr lang="en-US" sz="2200" dirty="0"/>
          </a:p>
        </p:txBody>
      </p:sp>
      <p:sp>
        <p:nvSpPr>
          <p:cNvPr id="21" name="Text 13"/>
          <p:cNvSpPr/>
          <p:nvPr/>
        </p:nvSpPr>
        <p:spPr>
          <a:xfrm>
            <a:off x="8242697" y="6760726"/>
            <a:ext cx="5549979" cy="766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185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Past exam papers prioritised — 85.7% of users identified this as top demand</a:t>
            </a:r>
            <a:endParaRPr lang="en-US" sz="1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37724" y="985599"/>
            <a:ext cx="4270653" cy="4575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2850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Credit System Deep Dive</a:t>
            </a:r>
            <a:endParaRPr lang="en-US" sz="2850" dirty="0"/>
          </a:p>
        </p:txBody>
      </p:sp>
      <p:sp>
        <p:nvSpPr>
          <p:cNvPr id="3" name="Text 1"/>
          <p:cNvSpPr/>
          <p:nvPr/>
        </p:nvSpPr>
        <p:spPr>
          <a:xfrm>
            <a:off x="837724" y="1645325"/>
            <a:ext cx="12954952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 reciprocal credit economy encourages fair participation in the Questionnaire Exchange module.</a:t>
            </a:r>
            <a:endParaRPr lang="en-US" sz="1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24" y="2078117"/>
            <a:ext cx="4086939" cy="4086939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724" y="2078117"/>
            <a:ext cx="4086939" cy="408693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512606" y="3436144"/>
            <a:ext cx="1830467" cy="228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00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7512606" y="3778568"/>
            <a:ext cx="6287691" cy="513993"/>
          </a:xfrm>
          <a:prstGeom prst="roundRect">
            <a:avLst>
              <a:gd name="adj" fmla="val 12714"/>
            </a:avLst>
          </a:prstGeom>
          <a:solidFill>
            <a:srgbClr val="B6D6FC"/>
          </a:solidFill>
          <a:ln/>
        </p:spPr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8101" y="3989189"/>
            <a:ext cx="194429" cy="15549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018026" y="3918466"/>
            <a:ext cx="5626775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Example: Fill 2 surveys (+2) + daily login (+2) = </a:t>
            </a:r>
            <a:r>
              <a:rPr lang="en-US" sz="1200" b="1" dirty="0">
                <a:solidFill>
                  <a:srgbClr val="00000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+4 credits</a:t>
            </a:r>
            <a:r>
              <a:rPr lang="en-US" sz="1200" dirty="0">
                <a:solidFill>
                  <a:srgbClr val="00000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 → post up to 4 surveys.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7512606" y="4406265"/>
            <a:ext cx="6287691" cy="4107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Fairness rating: </a:t>
            </a:r>
            <a:r>
              <a:rPr lang="en-US" sz="1200" b="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4.38/5</a:t>
            </a:r>
            <a:r>
              <a:rPr lang="en-US" sz="12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. Users recommend a 3.8 credit start — current balance may be adjusted in the next iteration.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837724" y="6392466"/>
            <a:ext cx="4250888" cy="851416"/>
          </a:xfrm>
          <a:prstGeom prst="roundRect">
            <a:avLst>
              <a:gd name="adj" fmla="val 12888"/>
            </a:avLst>
          </a:prstGeom>
          <a:solidFill>
            <a:srgbClr val="FAF5EB"/>
          </a:solidFill>
          <a:ln w="22860">
            <a:solidFill>
              <a:srgbClr val="D5CDBE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814864" y="6392466"/>
            <a:ext cx="91440" cy="851416"/>
          </a:xfrm>
          <a:prstGeom prst="roundRect">
            <a:avLst>
              <a:gd name="adj" fmla="val 71469"/>
            </a:avLst>
          </a:prstGeom>
          <a:solidFill>
            <a:srgbClr val="3371A5"/>
          </a:solidFill>
          <a:ln/>
        </p:spPr>
      </p:sp>
      <p:sp>
        <p:nvSpPr>
          <p:cNvPr id="13" name="Text 8"/>
          <p:cNvSpPr/>
          <p:nvPr/>
        </p:nvSpPr>
        <p:spPr>
          <a:xfrm>
            <a:off x="1084659" y="6570821"/>
            <a:ext cx="1830467" cy="228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3 Credits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84659" y="6860143"/>
            <a:ext cx="3825597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Awarded upon admin approval to get started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5189696" y="6392466"/>
            <a:ext cx="4250888" cy="851416"/>
          </a:xfrm>
          <a:prstGeom prst="roundRect">
            <a:avLst>
              <a:gd name="adj" fmla="val 12888"/>
            </a:avLst>
          </a:prstGeom>
          <a:solidFill>
            <a:srgbClr val="FAF5EB"/>
          </a:solidFill>
          <a:ln w="22860">
            <a:solidFill>
              <a:srgbClr val="D5CDBE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166836" y="6392466"/>
            <a:ext cx="91440" cy="851416"/>
          </a:xfrm>
          <a:prstGeom prst="roundRect">
            <a:avLst>
              <a:gd name="adj" fmla="val 71469"/>
            </a:avLst>
          </a:prstGeom>
          <a:solidFill>
            <a:srgbClr val="3371A5"/>
          </a:solidFill>
          <a:ln/>
        </p:spPr>
      </p:sp>
      <p:sp>
        <p:nvSpPr>
          <p:cNvPr id="17" name="Text 12"/>
          <p:cNvSpPr/>
          <p:nvPr/>
        </p:nvSpPr>
        <p:spPr>
          <a:xfrm>
            <a:off x="5436632" y="6570821"/>
            <a:ext cx="1830467" cy="228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+1 / +2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5436632" y="6860143"/>
            <a:ext cx="3825597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Earn by filling surveys (+1) or daily first login bonus (+2)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9541669" y="6392466"/>
            <a:ext cx="4251008" cy="851416"/>
          </a:xfrm>
          <a:prstGeom prst="roundRect">
            <a:avLst>
              <a:gd name="adj" fmla="val 12888"/>
            </a:avLst>
          </a:prstGeom>
          <a:solidFill>
            <a:srgbClr val="FAF5EB"/>
          </a:solidFill>
          <a:ln w="22860">
            <a:solidFill>
              <a:srgbClr val="D5CDB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518809" y="6392466"/>
            <a:ext cx="91440" cy="851416"/>
          </a:xfrm>
          <a:prstGeom prst="roundRect">
            <a:avLst>
              <a:gd name="adj" fmla="val 71469"/>
            </a:avLst>
          </a:prstGeom>
          <a:solidFill>
            <a:srgbClr val="3371A5"/>
          </a:solidFill>
          <a:ln/>
        </p:spPr>
      </p:sp>
      <p:sp>
        <p:nvSpPr>
          <p:cNvPr id="21" name="Text 16"/>
          <p:cNvSpPr/>
          <p:nvPr/>
        </p:nvSpPr>
        <p:spPr>
          <a:xfrm>
            <a:off x="9788604" y="6570821"/>
            <a:ext cx="1830467" cy="2287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0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−1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9788604" y="6860143"/>
            <a:ext cx="3825716" cy="2053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2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Spent each time you post your own questionnaire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37724" y="785455"/>
            <a:ext cx="4988243" cy="5632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3500" dirty="0">
                <a:solidFill>
                  <a:srgbClr val="051D3A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Summary &amp; Conclusion</a:t>
            </a:r>
            <a:endParaRPr lang="en-US" sz="3500" dirty="0"/>
          </a:p>
        </p:txBody>
      </p:sp>
      <p:sp>
        <p:nvSpPr>
          <p:cNvPr id="6" name="Text 2"/>
          <p:cNvSpPr/>
          <p:nvPr/>
        </p:nvSpPr>
        <p:spPr>
          <a:xfrm>
            <a:off x="837724" y="1578531"/>
            <a:ext cx="7468553" cy="275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5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All objectives met — modules fully implemented, tested, and validated with real users.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837724" y="2026444"/>
            <a:ext cx="7468553" cy="1054894"/>
          </a:xfrm>
          <a:prstGeom prst="roundRect">
            <a:avLst>
              <a:gd name="adj" fmla="val 7625"/>
            </a:avLst>
          </a:prstGeom>
          <a:solidFill>
            <a:srgbClr val="FAF5EB"/>
          </a:solidFill>
          <a:ln w="7620">
            <a:solidFill>
              <a:srgbClr val="D5CDBE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036796" y="2225516"/>
            <a:ext cx="2257187" cy="289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✔</a:t>
            </a:r>
            <a:r>
              <a:rPr lang="en-US" sz="175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 Production-Ready</a:t>
            </a:r>
            <a:endParaRPr lang="en-US" sz="1750" dirty="0"/>
          </a:p>
        </p:txBody>
      </p:sp>
      <p:sp>
        <p:nvSpPr>
          <p:cNvPr id="9" name="Text 5"/>
          <p:cNvSpPr/>
          <p:nvPr/>
        </p:nvSpPr>
        <p:spPr>
          <a:xfrm>
            <a:off x="1036796" y="2606635"/>
            <a:ext cx="7070407" cy="275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5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Live at </a:t>
            </a:r>
            <a:r>
              <a:rPr lang="en-US" sz="1500" b="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hku.wiki</a:t>
            </a:r>
            <a:r>
              <a:rPr lang="en-US" sz="15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 — four modules tackling real academic pain points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837724" y="3234452"/>
            <a:ext cx="7468553" cy="1054894"/>
          </a:xfrm>
          <a:prstGeom prst="roundRect">
            <a:avLst>
              <a:gd name="adj" fmla="val 7625"/>
            </a:avLst>
          </a:prstGeom>
          <a:solidFill>
            <a:srgbClr val="FAF5EB"/>
          </a:solidFill>
          <a:ln w="7620">
            <a:solidFill>
              <a:srgbClr val="D5CDBE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1036796" y="3433524"/>
            <a:ext cx="2252901" cy="289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✔</a:t>
            </a:r>
            <a:r>
              <a:rPr lang="en-US" sz="175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 High Satisfaction</a:t>
            </a:r>
            <a:endParaRPr lang="en-US" sz="1750" dirty="0"/>
          </a:p>
        </p:txBody>
      </p:sp>
      <p:sp>
        <p:nvSpPr>
          <p:cNvPr id="12" name="Text 8"/>
          <p:cNvSpPr/>
          <p:nvPr/>
        </p:nvSpPr>
        <p:spPr>
          <a:xfrm>
            <a:off x="1036796" y="3814643"/>
            <a:ext cx="7070407" cy="275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5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96% Good/Excellent · 92% useful · 86% likely to adopt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37724" y="4442460"/>
            <a:ext cx="7468553" cy="1054894"/>
          </a:xfrm>
          <a:prstGeom prst="roundRect">
            <a:avLst>
              <a:gd name="adj" fmla="val 7625"/>
            </a:avLst>
          </a:prstGeom>
          <a:solidFill>
            <a:srgbClr val="FAF5EB"/>
          </a:solidFill>
          <a:ln w="7620">
            <a:solidFill>
              <a:srgbClr val="D5CDB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036796" y="4641533"/>
            <a:ext cx="2777728" cy="289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✔</a:t>
            </a:r>
            <a:r>
              <a:rPr lang="en-US" sz="175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 Validated Performance</a:t>
            </a:r>
            <a:endParaRPr lang="en-US" sz="1750" dirty="0"/>
          </a:p>
        </p:txBody>
      </p:sp>
      <p:sp>
        <p:nvSpPr>
          <p:cNvPr id="15" name="Text 11"/>
          <p:cNvSpPr/>
          <p:nvPr/>
        </p:nvSpPr>
        <p:spPr>
          <a:xfrm>
            <a:off x="1036796" y="5022652"/>
            <a:ext cx="7070407" cy="275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5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15ms avg response · 0% failure under 200 VUs · Lighthouse a11y 96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837724" y="5650468"/>
            <a:ext cx="7468553" cy="1054894"/>
          </a:xfrm>
          <a:prstGeom prst="roundRect">
            <a:avLst>
              <a:gd name="adj" fmla="val 7625"/>
            </a:avLst>
          </a:prstGeom>
          <a:solidFill>
            <a:srgbClr val="FAF5EB"/>
          </a:solidFill>
          <a:ln w="7620">
            <a:solidFill>
              <a:srgbClr val="D5CDBE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036796" y="5849541"/>
            <a:ext cx="2381845" cy="2892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750" dirty="0">
                <a:solidFill>
                  <a:srgbClr val="000000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✔</a:t>
            </a:r>
            <a:r>
              <a:rPr lang="en-US" sz="1750" dirty="0">
                <a:solidFill>
                  <a:srgbClr val="2B3541"/>
                </a:solidFill>
                <a:latin typeface="Funnel Display" pitchFamily="34" charset="0"/>
                <a:ea typeface="Funnel Display" pitchFamily="34" charset="-122"/>
                <a:cs typeface="Funnel Display" pitchFamily="34" charset="-120"/>
              </a:rPr>
              <a:t> Unique Capabilities</a:t>
            </a:r>
            <a:endParaRPr lang="en-US" sz="1750" dirty="0"/>
          </a:p>
        </p:txBody>
      </p:sp>
      <p:sp>
        <p:nvSpPr>
          <p:cNvPr id="18" name="Text 14"/>
          <p:cNvSpPr/>
          <p:nvPr/>
        </p:nvSpPr>
        <p:spPr>
          <a:xfrm>
            <a:off x="1036796" y="6230660"/>
            <a:ext cx="7070407" cy="275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5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Credit-based exchange, PNG export, real-time chat on serverless infrastructure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837724" y="6877645"/>
            <a:ext cx="7468553" cy="566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5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🙏</a:t>
            </a:r>
            <a:r>
              <a:rPr lang="en-US" sz="15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 </a:t>
            </a:r>
            <a:r>
              <a:rPr lang="en-US" sz="1500" b="1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Thank you!</a:t>
            </a:r>
            <a:r>
              <a:rPr lang="en-US" sz="15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 Feedback and questions are welcome.</a:t>
            </a:r>
            <a:endParaRPr lang="en-US" sz="1500" dirty="0"/>
          </a:p>
          <a:p>
            <a:pPr marL="0" indent="0" algn="ctr">
              <a:lnSpc>
                <a:spcPts val="215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🔗</a:t>
            </a:r>
            <a:r>
              <a:rPr lang="en-US" sz="15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 Live demo: </a:t>
            </a:r>
            <a:r>
              <a:rPr lang="en-US" sz="1500" u="sng" dirty="0">
                <a:solidFill>
                  <a:srgbClr val="CE5099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hku.wiki</a:t>
            </a:r>
            <a:r>
              <a:rPr lang="en-US" sz="1500" dirty="0">
                <a:solidFill>
                  <a:srgbClr val="2B3541"/>
                </a:solidFill>
                <a:latin typeface="Funnel Sans" pitchFamily="34" charset="0"/>
                <a:ea typeface="Funnel Sans" pitchFamily="34" charset="-122"/>
                <a:cs typeface="Funnel Sans" pitchFamily="34" charset="-120"/>
              </a:rPr>
              <a:t> · GitHub: EFS Platform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11</Slides>
  <Notes>10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19</cp:revision>
  <dcterms:created xsi:type="dcterms:W3CDTF">2026-04-26T14:12:39Z</dcterms:created>
  <dcterms:modified xsi:type="dcterms:W3CDTF">2026-04-26T15:44:22Z</dcterms:modified>
</cp:coreProperties>
</file>